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815" r:id="rId2"/>
    <p:sldId id="574" r:id="rId3"/>
    <p:sldId id="820" r:id="rId4"/>
    <p:sldId id="816" r:id="rId5"/>
    <p:sldId id="813" r:id="rId6"/>
    <p:sldId id="817" r:id="rId7"/>
    <p:sldId id="818" r:id="rId8"/>
    <p:sldId id="259" r:id="rId9"/>
    <p:sldId id="822" r:id="rId10"/>
    <p:sldId id="823" r:id="rId11"/>
    <p:sldId id="260" r:id="rId12"/>
    <p:sldId id="819" r:id="rId13"/>
    <p:sldId id="812" r:id="rId14"/>
  </p:sldIdLst>
  <p:sldSz cx="9144000" cy="6858000" type="screen4x3"/>
  <p:notesSz cx="6881813" cy="92964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482"/>
    <a:srgbClr val="CCFF99"/>
    <a:srgbClr val="CC0099"/>
    <a:srgbClr val="FF33CC"/>
    <a:srgbClr val="F2F2F2"/>
    <a:srgbClr val="5A62F8"/>
    <a:srgbClr val="00CCFF"/>
    <a:srgbClr val="CD9711"/>
    <a:srgbClr val="130290"/>
    <a:srgbClr val="C06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6"/>
  </p:normalViewPr>
  <p:slideViewPr>
    <p:cSldViewPr>
      <p:cViewPr varScale="1">
        <p:scale>
          <a:sx n="107" d="100"/>
          <a:sy n="107" d="100"/>
        </p:scale>
        <p:origin x="1770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A955B8-9B6E-4119-A9D7-51466C8B98E5}" type="doc">
      <dgm:prSet loTypeId="urn:microsoft.com/office/officeart/2005/8/layout/lProcess1" loCatId="process" qsTypeId="urn:microsoft.com/office/officeart/2005/8/quickstyle/3d1" qsCatId="3D" csTypeId="urn:microsoft.com/office/officeart/2005/8/colors/accent6_2" csCatId="accent6" phldr="1"/>
      <dgm:spPr/>
      <dgm:t>
        <a:bodyPr/>
        <a:lstStyle/>
        <a:p>
          <a:endParaRPr lang="es-MX"/>
        </a:p>
      </dgm:t>
    </dgm:pt>
    <dgm:pt modelId="{1066933A-E8C8-4DE7-BD00-060DC556A47E}">
      <dgm:prSet phldrT="[Texto]" custT="1"/>
      <dgm:spPr/>
      <dgm:t>
        <a:bodyPr/>
        <a:lstStyle/>
        <a:p>
          <a:pPr>
            <a:buNone/>
          </a:pPr>
          <a:r>
            <a:rPr lang="es-ES" sz="1600" b="1" dirty="0">
              <a:latin typeface="Calibri" panose="020F0502020204030204"/>
              <a:ea typeface="+mn-ea"/>
              <a:cs typeface="+mn-cs"/>
            </a:rPr>
            <a:t>DGOAE-CGEP-Programas de posgrado</a:t>
          </a:r>
          <a:endParaRPr lang="es-MX" sz="1600" dirty="0"/>
        </a:p>
      </dgm:t>
    </dgm:pt>
    <dgm:pt modelId="{3BADD265-DFF4-4F58-B5F7-A2FE14FE33BC}" type="parTrans" cxnId="{5251B013-2741-4C15-AC89-E04497BAD6A9}">
      <dgm:prSet/>
      <dgm:spPr/>
      <dgm:t>
        <a:bodyPr/>
        <a:lstStyle/>
        <a:p>
          <a:endParaRPr lang="es-MX"/>
        </a:p>
      </dgm:t>
    </dgm:pt>
    <dgm:pt modelId="{D5C0590A-9C25-4BBE-ACA0-FCB0B0E26636}" type="sibTrans" cxnId="{5251B013-2741-4C15-AC89-E04497BAD6A9}">
      <dgm:prSet/>
      <dgm:spPr/>
      <dgm:t>
        <a:bodyPr/>
        <a:lstStyle/>
        <a:p>
          <a:endParaRPr lang="es-MX"/>
        </a:p>
      </dgm:t>
    </dgm:pt>
    <dgm:pt modelId="{A9CD2CC4-C95B-433E-B1DB-184070AFB4BC}">
      <dgm:prSet phldrT="[Texto]" custT="1"/>
      <dgm:spPr/>
      <dgm:t>
        <a:bodyPr/>
        <a:lstStyle/>
        <a:p>
          <a:r>
            <a:rPr lang="es-MX" sz="1700" dirty="0"/>
            <a:t>Reunión de trabajo</a:t>
          </a:r>
        </a:p>
        <a:p>
          <a:r>
            <a:rPr lang="es-MX" sz="1800" b="1" dirty="0">
              <a:solidFill>
                <a:srgbClr val="FF33CC"/>
              </a:solidFill>
            </a:rPr>
            <a:t>01 septiembre</a:t>
          </a:r>
        </a:p>
      </dgm:t>
    </dgm:pt>
    <dgm:pt modelId="{CF168529-F1A3-44E5-B1F5-7FB2808F4A94}" type="parTrans" cxnId="{2E1ED7D0-DCA6-442F-BEF7-C8417A49EC3A}">
      <dgm:prSet/>
      <dgm:spPr/>
      <dgm:t>
        <a:bodyPr/>
        <a:lstStyle/>
        <a:p>
          <a:endParaRPr lang="es-MX"/>
        </a:p>
      </dgm:t>
    </dgm:pt>
    <dgm:pt modelId="{6BA6D090-DC8B-49DC-8DBB-B4C840C18E5B}" type="sibTrans" cxnId="{2E1ED7D0-DCA6-442F-BEF7-C8417A49EC3A}">
      <dgm:prSet/>
      <dgm:spPr/>
      <dgm:t>
        <a:bodyPr/>
        <a:lstStyle/>
        <a:p>
          <a:endParaRPr lang="es-MX"/>
        </a:p>
      </dgm:t>
    </dgm:pt>
    <dgm:pt modelId="{9CF2F73C-155A-4B27-BA2B-DE74C455FD60}">
      <dgm:prSet phldrT="[Texto]" custT="1"/>
      <dgm:spPr/>
      <dgm:t>
        <a:bodyPr/>
        <a:lstStyle/>
        <a:p>
          <a:pPr>
            <a:buNone/>
          </a:pPr>
          <a:r>
            <a:rPr lang="es-ES" sz="1800" b="1" dirty="0">
              <a:latin typeface="Calibri" panose="020F0502020204030204"/>
              <a:ea typeface="+mn-ea"/>
              <a:cs typeface="+mn-cs"/>
            </a:rPr>
            <a:t>DGOAE-Programas Posgrado</a:t>
          </a:r>
          <a:endParaRPr lang="es-MX" sz="1800" dirty="0"/>
        </a:p>
      </dgm:t>
    </dgm:pt>
    <dgm:pt modelId="{5F828B9D-755B-4484-BF83-BD36BB42DF7D}" type="parTrans" cxnId="{57987266-D50D-4316-9A62-3E76BB427CD5}">
      <dgm:prSet/>
      <dgm:spPr/>
      <dgm:t>
        <a:bodyPr/>
        <a:lstStyle/>
        <a:p>
          <a:endParaRPr lang="es-MX"/>
        </a:p>
      </dgm:t>
    </dgm:pt>
    <dgm:pt modelId="{17D3E06E-447A-4F09-8739-2DB764E3DA6C}" type="sibTrans" cxnId="{57987266-D50D-4316-9A62-3E76BB427CD5}">
      <dgm:prSet/>
      <dgm:spPr/>
      <dgm:t>
        <a:bodyPr/>
        <a:lstStyle/>
        <a:p>
          <a:endParaRPr lang="es-MX"/>
        </a:p>
      </dgm:t>
    </dgm:pt>
    <dgm:pt modelId="{3436B024-E09E-4524-A10D-DDDFA0A53CB0}">
      <dgm:prSet phldrT="[Texto]"/>
      <dgm:spPr/>
      <dgm:t>
        <a:bodyPr/>
        <a:lstStyle/>
        <a:p>
          <a:r>
            <a:rPr lang="es-MX" dirty="0"/>
            <a:t>Atención a dudas</a:t>
          </a:r>
        </a:p>
      </dgm:t>
    </dgm:pt>
    <dgm:pt modelId="{79BC9719-08B0-4D71-A318-30A6760FBF4C}" type="parTrans" cxnId="{F39A7B93-099A-4008-98EF-2C95ED54D5A6}">
      <dgm:prSet/>
      <dgm:spPr/>
      <dgm:t>
        <a:bodyPr/>
        <a:lstStyle/>
        <a:p>
          <a:endParaRPr lang="es-MX"/>
        </a:p>
      </dgm:t>
    </dgm:pt>
    <dgm:pt modelId="{C7A3CB3C-9946-4280-A9EC-6844C1E07C4D}" type="sibTrans" cxnId="{F39A7B93-099A-4008-98EF-2C95ED54D5A6}">
      <dgm:prSet/>
      <dgm:spPr/>
      <dgm:t>
        <a:bodyPr/>
        <a:lstStyle/>
        <a:p>
          <a:endParaRPr lang="es-MX"/>
        </a:p>
      </dgm:t>
    </dgm:pt>
    <dgm:pt modelId="{6CDED4A7-C063-4447-8992-1135001D6C8F}">
      <dgm:prSet custT="1"/>
      <dgm:spPr/>
      <dgm:t>
        <a:bodyPr/>
        <a:lstStyle/>
        <a:p>
          <a:r>
            <a:rPr lang="es-MX" sz="2000" b="1" i="0" dirty="0"/>
            <a:t>CGEP</a:t>
          </a:r>
        </a:p>
      </dgm:t>
    </dgm:pt>
    <dgm:pt modelId="{70643B3F-85AB-41E4-A3DE-C952790C96D1}" type="parTrans" cxnId="{E3008DE9-EA40-4FD2-8E2C-7C6D3BD782AD}">
      <dgm:prSet/>
      <dgm:spPr/>
      <dgm:t>
        <a:bodyPr/>
        <a:lstStyle/>
        <a:p>
          <a:endParaRPr lang="es-MX"/>
        </a:p>
      </dgm:t>
    </dgm:pt>
    <dgm:pt modelId="{E5DDA595-78A7-4AC3-86B7-6B6EFAFB146D}" type="sibTrans" cxnId="{E3008DE9-EA40-4FD2-8E2C-7C6D3BD782AD}">
      <dgm:prSet/>
      <dgm:spPr/>
      <dgm:t>
        <a:bodyPr/>
        <a:lstStyle/>
        <a:p>
          <a:endParaRPr lang="es-MX"/>
        </a:p>
      </dgm:t>
    </dgm:pt>
    <dgm:pt modelId="{6BC2FE45-1766-4BE0-AF57-F3D114B76F25}">
      <dgm:prSet custT="1"/>
      <dgm:spPr/>
      <dgm:t>
        <a:bodyPr/>
        <a:lstStyle/>
        <a:p>
          <a:pPr>
            <a:buNone/>
          </a:pPr>
          <a:r>
            <a:rPr lang="es-ES" sz="1800" b="1">
              <a:latin typeface="Calibri" panose="020F0502020204030204"/>
              <a:ea typeface="+mn-ea"/>
              <a:cs typeface="+mn-cs"/>
            </a:rPr>
            <a:t>Programas de Posgrado</a:t>
          </a:r>
          <a:endParaRPr lang="es-MX" sz="1800" dirty="0"/>
        </a:p>
      </dgm:t>
    </dgm:pt>
    <dgm:pt modelId="{F32724D6-6D3F-4FC9-80CD-6BB9A354D1A6}" type="parTrans" cxnId="{F6C37133-2BCB-445C-AA6B-01A38D49B703}">
      <dgm:prSet/>
      <dgm:spPr/>
      <dgm:t>
        <a:bodyPr/>
        <a:lstStyle/>
        <a:p>
          <a:endParaRPr lang="es-MX"/>
        </a:p>
      </dgm:t>
    </dgm:pt>
    <dgm:pt modelId="{F04E2E7C-C06D-4E68-8A5C-596CB4452784}" type="sibTrans" cxnId="{F6C37133-2BCB-445C-AA6B-01A38D49B703}">
      <dgm:prSet/>
      <dgm:spPr/>
      <dgm:t>
        <a:bodyPr/>
        <a:lstStyle/>
        <a:p>
          <a:endParaRPr lang="es-MX"/>
        </a:p>
      </dgm:t>
    </dgm:pt>
    <dgm:pt modelId="{34BD7F51-6DA8-4380-9A96-231D8CFB4F4D}">
      <dgm:prSet custT="1"/>
      <dgm:spPr/>
      <dgm:t>
        <a:bodyPr/>
        <a:lstStyle/>
        <a:p>
          <a:pPr>
            <a:buNone/>
          </a:pPr>
          <a:r>
            <a:rPr lang="es-ES" sz="1800" b="1" dirty="0">
              <a:latin typeface="Calibri" panose="020F0502020204030204"/>
              <a:ea typeface="+mn-ea"/>
              <a:cs typeface="+mn-cs"/>
            </a:rPr>
            <a:t>Programas de Posgrado</a:t>
          </a:r>
          <a:endParaRPr lang="es-MX" sz="1800" dirty="0"/>
        </a:p>
      </dgm:t>
    </dgm:pt>
    <dgm:pt modelId="{04BCA245-C37E-4323-B0C2-F735758616A2}" type="sibTrans" cxnId="{6E331CDE-7D6B-4152-A70F-DE661A5B0CA9}">
      <dgm:prSet/>
      <dgm:spPr/>
      <dgm:t>
        <a:bodyPr/>
        <a:lstStyle/>
        <a:p>
          <a:endParaRPr lang="es-MX"/>
        </a:p>
      </dgm:t>
    </dgm:pt>
    <dgm:pt modelId="{D5903E24-5775-4ABE-A001-C327D522D325}" type="parTrans" cxnId="{6E331CDE-7D6B-4152-A70F-DE661A5B0CA9}">
      <dgm:prSet/>
      <dgm:spPr/>
      <dgm:t>
        <a:bodyPr/>
        <a:lstStyle/>
        <a:p>
          <a:endParaRPr lang="es-MX"/>
        </a:p>
      </dgm:t>
    </dgm:pt>
    <dgm:pt modelId="{7612BF4D-E2CE-4F93-A106-5B4EBD5DE91D}">
      <dgm:prSet custT="1"/>
      <dgm:spPr/>
      <dgm:t>
        <a:bodyPr/>
        <a:lstStyle/>
        <a:p>
          <a:pPr>
            <a:buChar char="•"/>
          </a:pPr>
          <a:r>
            <a:rPr lang="es-ES" sz="1650" kern="1200" dirty="0">
              <a:latin typeface="Calibri" panose="020F0502020204030204"/>
              <a:ea typeface="+mn-ea"/>
              <a:cs typeface="+mn-cs"/>
            </a:rPr>
            <a:t>Envían la información de aspirantes </a:t>
          </a:r>
        </a:p>
        <a:p>
          <a:pPr>
            <a:buChar char="•"/>
          </a:pPr>
          <a:r>
            <a:rPr lang="es-E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(Concentrado en formato </a:t>
          </a:r>
          <a:r>
            <a:rPr lang="es-ES" sz="1400" b="1" kern="1200" dirty="0">
              <a:latin typeface="Calibri" panose="020F0502020204030204"/>
              <a:ea typeface="+mn-ea"/>
              <a:cs typeface="+mn-cs"/>
            </a:rPr>
            <a:t>Excel</a:t>
          </a:r>
          <a:r>
            <a:rPr lang="es-ES" sz="1400" kern="1200" dirty="0">
              <a:latin typeface="Calibri" panose="020F0502020204030204"/>
              <a:ea typeface="+mn-ea"/>
              <a:cs typeface="+mn-cs"/>
            </a:rPr>
            <a:t> .xls)</a:t>
          </a:r>
          <a:endParaRPr lang="es-MX" sz="1700" kern="1200" dirty="0"/>
        </a:p>
      </dgm:t>
    </dgm:pt>
    <dgm:pt modelId="{F14904BA-43F1-4662-984C-B5A2F7E02348}" type="parTrans" cxnId="{461D0332-C82D-45C2-A077-F09F92DFAA43}">
      <dgm:prSet/>
      <dgm:spPr/>
      <dgm:t>
        <a:bodyPr/>
        <a:lstStyle/>
        <a:p>
          <a:endParaRPr lang="es-MX"/>
        </a:p>
      </dgm:t>
    </dgm:pt>
    <dgm:pt modelId="{00CBA30E-F6A3-4B81-B53A-7DF870C118F3}" type="sibTrans" cxnId="{461D0332-C82D-45C2-A077-F09F92DFAA43}">
      <dgm:prSet/>
      <dgm:spPr/>
      <dgm:t>
        <a:bodyPr/>
        <a:lstStyle/>
        <a:p>
          <a:endParaRPr lang="es-MX"/>
        </a:p>
      </dgm:t>
    </dgm:pt>
    <dgm:pt modelId="{2C8DBAA0-62CF-4B69-BFC8-D9FFF8B4C454}">
      <dgm:prSet/>
      <dgm:spPr/>
      <dgm:t>
        <a:bodyPr/>
        <a:lstStyle/>
        <a:p>
          <a:r>
            <a:rPr lang="es-ES" dirty="0">
              <a:latin typeface="Calibri" panose="020F0502020204030204"/>
              <a:ea typeface="+mn-ea"/>
              <a:cs typeface="+mn-cs"/>
            </a:rPr>
            <a:t>Integra y envía a la DGOAE los </a:t>
          </a:r>
          <a:r>
            <a:rPr lang="es-ES" b="1" dirty="0">
              <a:latin typeface="Calibri" panose="020F0502020204030204"/>
              <a:ea typeface="+mn-ea"/>
              <a:cs typeface="+mn-cs"/>
            </a:rPr>
            <a:t>concentrados de información  </a:t>
          </a:r>
          <a:r>
            <a:rPr lang="es-ES" dirty="0">
              <a:latin typeface="Calibri" panose="020F0502020204030204"/>
              <a:ea typeface="+mn-ea"/>
              <a:cs typeface="+mn-cs"/>
            </a:rPr>
            <a:t>para carga en el sistema de aspirantes </a:t>
          </a:r>
          <a:endParaRPr lang="es-MX" dirty="0"/>
        </a:p>
      </dgm:t>
    </dgm:pt>
    <dgm:pt modelId="{F40EEAE7-A5A9-45BA-85D9-51D8C38D20B1}" type="parTrans" cxnId="{F5AFACC5-3482-406F-9764-C8EE9AA20E8E}">
      <dgm:prSet/>
      <dgm:spPr/>
      <dgm:t>
        <a:bodyPr/>
        <a:lstStyle/>
        <a:p>
          <a:endParaRPr lang="es-MX"/>
        </a:p>
      </dgm:t>
    </dgm:pt>
    <dgm:pt modelId="{741D567A-8EDE-4A3D-AE18-152AF4705F3B}" type="sibTrans" cxnId="{F5AFACC5-3482-406F-9764-C8EE9AA20E8E}">
      <dgm:prSet/>
      <dgm:spPr/>
      <dgm:t>
        <a:bodyPr/>
        <a:lstStyle/>
        <a:p>
          <a:endParaRPr lang="es-MX"/>
        </a:p>
      </dgm:t>
    </dgm:pt>
    <dgm:pt modelId="{7D57FCB0-46FA-4038-98ED-B60BD6196DC4}">
      <dgm:prSet custT="1"/>
      <dgm:spPr/>
      <dgm:t>
        <a:bodyPr/>
        <a:lstStyle/>
        <a:p>
          <a:pPr>
            <a:buChar char="•"/>
          </a:pPr>
          <a:r>
            <a:rPr lang="es-ES" sz="1500" dirty="0">
              <a:latin typeface="Calibri" panose="020F0502020204030204"/>
              <a:ea typeface="+mn-ea"/>
              <a:cs typeface="+mn-cs"/>
            </a:rPr>
            <a:t>Darán instrucciones a los aspirantes por correo  electrónico </a:t>
          </a:r>
          <a:r>
            <a:rPr lang="es-ES" sz="1400" dirty="0">
              <a:latin typeface="Calibri" panose="020F0502020204030204"/>
              <a:ea typeface="+mn-ea"/>
              <a:cs typeface="+mn-cs"/>
            </a:rPr>
            <a:t>(</a:t>
          </a:r>
          <a:r>
            <a:rPr lang="es-ES" sz="1400" b="1" dirty="0">
              <a:latin typeface="Calibri" panose="020F0502020204030204"/>
              <a:ea typeface="+mn-ea"/>
              <a:cs typeface="+mn-cs"/>
            </a:rPr>
            <a:t>Documento Propuesta</a:t>
          </a:r>
          <a:r>
            <a:rPr lang="es-ES" sz="1400" dirty="0">
              <a:latin typeface="Calibri" panose="020F0502020204030204"/>
              <a:ea typeface="+mn-ea"/>
              <a:cs typeface="+mn-cs"/>
            </a:rPr>
            <a:t>)</a:t>
          </a:r>
          <a:endParaRPr lang="es-MX" sz="1500" dirty="0"/>
        </a:p>
      </dgm:t>
    </dgm:pt>
    <dgm:pt modelId="{9B151A04-64A6-4897-8E29-53C81691C6A5}" type="parTrans" cxnId="{CD397CE8-52AF-429E-B6E6-B20B95B45464}">
      <dgm:prSet/>
      <dgm:spPr/>
      <dgm:t>
        <a:bodyPr/>
        <a:lstStyle/>
        <a:p>
          <a:endParaRPr lang="es-MX"/>
        </a:p>
      </dgm:t>
    </dgm:pt>
    <dgm:pt modelId="{EBB3B746-2AE8-44AF-9A29-D84FB9F18806}" type="sibTrans" cxnId="{CD397CE8-52AF-429E-B6E6-B20B95B45464}">
      <dgm:prSet/>
      <dgm:spPr/>
      <dgm:t>
        <a:bodyPr/>
        <a:lstStyle/>
        <a:p>
          <a:endParaRPr lang="es-MX"/>
        </a:p>
      </dgm:t>
    </dgm:pt>
    <dgm:pt modelId="{883099CE-0E0C-4FB0-90B4-5A715D9FDE36}" type="pres">
      <dgm:prSet presAssocID="{79A955B8-9B6E-4119-A9D7-51466C8B98E5}" presName="Name0" presStyleCnt="0">
        <dgm:presLayoutVars>
          <dgm:dir/>
          <dgm:animLvl val="lvl"/>
          <dgm:resizeHandles val="exact"/>
        </dgm:presLayoutVars>
      </dgm:prSet>
      <dgm:spPr/>
    </dgm:pt>
    <dgm:pt modelId="{C7FE3CC8-9202-4C21-B6DA-08A007E62BE5}" type="pres">
      <dgm:prSet presAssocID="{1066933A-E8C8-4DE7-BD00-060DC556A47E}" presName="vertFlow" presStyleCnt="0"/>
      <dgm:spPr/>
    </dgm:pt>
    <dgm:pt modelId="{396B80F9-9637-4E29-8992-F6A321199323}" type="pres">
      <dgm:prSet presAssocID="{1066933A-E8C8-4DE7-BD00-060DC556A47E}" presName="header" presStyleLbl="node1" presStyleIdx="0" presStyleCnt="5" custScaleX="137129" custScaleY="433707"/>
      <dgm:spPr/>
    </dgm:pt>
    <dgm:pt modelId="{B2B60148-2AE4-4136-A0C3-573EF1D81B74}" type="pres">
      <dgm:prSet presAssocID="{CF168529-F1A3-44E5-B1F5-7FB2808F4A94}" presName="parTrans" presStyleLbl="sibTrans2D1" presStyleIdx="0" presStyleCnt="5"/>
      <dgm:spPr/>
    </dgm:pt>
    <dgm:pt modelId="{A63A1B15-E92A-4B9E-9196-A148D57E2DD1}" type="pres">
      <dgm:prSet presAssocID="{A9CD2CC4-C95B-433E-B1DB-184070AFB4BC}" presName="child" presStyleLbl="alignAccFollowNode1" presStyleIdx="0" presStyleCnt="5" custScaleX="125767" custScaleY="634904" custLinFactNeighborX="-766" custLinFactNeighborY="58424">
        <dgm:presLayoutVars>
          <dgm:chMax val="0"/>
          <dgm:bulletEnabled val="1"/>
        </dgm:presLayoutVars>
      </dgm:prSet>
      <dgm:spPr/>
    </dgm:pt>
    <dgm:pt modelId="{49B6DACE-0EF7-4617-BB6C-65ABECFC7EF6}" type="pres">
      <dgm:prSet presAssocID="{1066933A-E8C8-4DE7-BD00-060DC556A47E}" presName="hSp" presStyleCnt="0"/>
      <dgm:spPr/>
    </dgm:pt>
    <dgm:pt modelId="{AD3A0656-7DD6-4414-9474-797649F1B2F5}" type="pres">
      <dgm:prSet presAssocID="{34BD7F51-6DA8-4380-9A96-231D8CFB4F4D}" presName="vertFlow" presStyleCnt="0"/>
      <dgm:spPr/>
    </dgm:pt>
    <dgm:pt modelId="{18774735-5943-4388-9631-2CCD005286A0}" type="pres">
      <dgm:prSet presAssocID="{34BD7F51-6DA8-4380-9A96-231D8CFB4F4D}" presName="header" presStyleLbl="node1" presStyleIdx="1" presStyleCnt="5" custScaleX="120002" custScaleY="303323"/>
      <dgm:spPr/>
    </dgm:pt>
    <dgm:pt modelId="{A3FD4535-1948-466A-8B32-3B1A39FBEEAC}" type="pres">
      <dgm:prSet presAssocID="{F14904BA-43F1-4662-984C-B5A2F7E02348}" presName="parTrans" presStyleLbl="sibTrans2D1" presStyleIdx="1" presStyleCnt="5"/>
      <dgm:spPr/>
    </dgm:pt>
    <dgm:pt modelId="{03722C3B-B869-45FA-BA9B-7870E2CC88AC}" type="pres">
      <dgm:prSet presAssocID="{7612BF4D-E2CE-4F93-A106-5B4EBD5DE91D}" presName="child" presStyleLbl="alignAccFollowNode1" presStyleIdx="1" presStyleCnt="5" custScaleX="122528" custScaleY="740147" custLinFactY="1274" custLinFactNeighborX="-267" custLinFactNeighborY="100000">
        <dgm:presLayoutVars>
          <dgm:chMax val="0"/>
          <dgm:bulletEnabled val="1"/>
        </dgm:presLayoutVars>
      </dgm:prSet>
      <dgm:spPr/>
    </dgm:pt>
    <dgm:pt modelId="{1F5FD063-628E-43A4-A47A-CFF500AE4EEA}" type="pres">
      <dgm:prSet presAssocID="{34BD7F51-6DA8-4380-9A96-231D8CFB4F4D}" presName="hSp" presStyleCnt="0"/>
      <dgm:spPr/>
    </dgm:pt>
    <dgm:pt modelId="{37CB35BF-1711-44CA-940D-D6D9BAA9C8BE}" type="pres">
      <dgm:prSet presAssocID="{6CDED4A7-C063-4447-8992-1135001D6C8F}" presName="vertFlow" presStyleCnt="0"/>
      <dgm:spPr/>
    </dgm:pt>
    <dgm:pt modelId="{B01B35E9-EDE5-4603-89F9-266034D8EF37}" type="pres">
      <dgm:prSet presAssocID="{6CDED4A7-C063-4447-8992-1135001D6C8F}" presName="header" presStyleLbl="node1" presStyleIdx="2" presStyleCnt="5" custScaleX="120996" custScaleY="259055"/>
      <dgm:spPr/>
    </dgm:pt>
    <dgm:pt modelId="{D9B9C1FF-44A6-4356-9934-A8C0521119BB}" type="pres">
      <dgm:prSet presAssocID="{F40EEAE7-A5A9-45BA-85D9-51D8C38D20B1}" presName="parTrans" presStyleLbl="sibTrans2D1" presStyleIdx="2" presStyleCnt="5"/>
      <dgm:spPr/>
    </dgm:pt>
    <dgm:pt modelId="{2332D612-DCEF-4227-A2B9-474A78B22AFB}" type="pres">
      <dgm:prSet presAssocID="{2C8DBAA0-62CF-4B69-BFC8-D9FFF8B4C454}" presName="child" presStyleLbl="alignAccFollowNode1" presStyleIdx="2" presStyleCnt="5" custScaleX="140762" custScaleY="786615" custLinFactY="20905" custLinFactNeighborX="8398" custLinFactNeighborY="100000">
        <dgm:presLayoutVars>
          <dgm:chMax val="0"/>
          <dgm:bulletEnabled val="1"/>
        </dgm:presLayoutVars>
      </dgm:prSet>
      <dgm:spPr/>
    </dgm:pt>
    <dgm:pt modelId="{A9B09351-7C22-4B69-9CE3-75D810B10FDE}" type="pres">
      <dgm:prSet presAssocID="{6CDED4A7-C063-4447-8992-1135001D6C8F}" presName="hSp" presStyleCnt="0"/>
      <dgm:spPr/>
    </dgm:pt>
    <dgm:pt modelId="{6CE2322B-4A72-4DD5-8728-C14D0F0DA916}" type="pres">
      <dgm:prSet presAssocID="{6BC2FE45-1766-4BE0-AF57-F3D114B76F25}" presName="vertFlow" presStyleCnt="0"/>
      <dgm:spPr/>
    </dgm:pt>
    <dgm:pt modelId="{F08CB0DC-7F37-48B0-A582-0FD4B1F3CD56}" type="pres">
      <dgm:prSet presAssocID="{6BC2FE45-1766-4BE0-AF57-F3D114B76F25}" presName="header" presStyleLbl="node1" presStyleIdx="3" presStyleCnt="5" custScaleX="120294" custScaleY="267658"/>
      <dgm:spPr/>
    </dgm:pt>
    <dgm:pt modelId="{A059A149-FE6C-4DE6-8061-78AE12F5B66A}" type="pres">
      <dgm:prSet presAssocID="{9B151A04-64A6-4897-8E29-53C81691C6A5}" presName="parTrans" presStyleLbl="sibTrans2D1" presStyleIdx="3" presStyleCnt="5" custScaleX="190399" custScaleY="135492"/>
      <dgm:spPr/>
    </dgm:pt>
    <dgm:pt modelId="{51C6E868-6F6F-4245-878A-8A7FC8C96F88}" type="pres">
      <dgm:prSet presAssocID="{7D57FCB0-46FA-4038-98ED-B60BD6196DC4}" presName="child" presStyleLbl="alignAccFollowNode1" presStyleIdx="3" presStyleCnt="5" custScaleX="122658" custScaleY="752638" custLinFactY="6171" custLinFactNeighborX="4522" custLinFactNeighborY="100000">
        <dgm:presLayoutVars>
          <dgm:chMax val="0"/>
          <dgm:bulletEnabled val="1"/>
        </dgm:presLayoutVars>
      </dgm:prSet>
      <dgm:spPr/>
    </dgm:pt>
    <dgm:pt modelId="{4D518A7A-6245-4A1F-A31F-6739EDD05973}" type="pres">
      <dgm:prSet presAssocID="{6BC2FE45-1766-4BE0-AF57-F3D114B76F25}" presName="hSp" presStyleCnt="0"/>
      <dgm:spPr/>
    </dgm:pt>
    <dgm:pt modelId="{4E21CC37-D006-4D8D-B298-89F80FB75355}" type="pres">
      <dgm:prSet presAssocID="{9CF2F73C-155A-4B27-BA2B-DE74C455FD60}" presName="vertFlow" presStyleCnt="0"/>
      <dgm:spPr/>
    </dgm:pt>
    <dgm:pt modelId="{E8955E51-11EE-4DB4-8A2A-3D54638AD5B2}" type="pres">
      <dgm:prSet presAssocID="{9CF2F73C-155A-4B27-BA2B-DE74C455FD60}" presName="header" presStyleLbl="node1" presStyleIdx="4" presStyleCnt="5" custScaleX="120742" custScaleY="364852"/>
      <dgm:spPr/>
    </dgm:pt>
    <dgm:pt modelId="{299D2EC6-64B3-4F1D-AB64-36B724755537}" type="pres">
      <dgm:prSet presAssocID="{79BC9719-08B0-4D71-A318-30A6760FBF4C}" presName="parTrans" presStyleLbl="sibTrans2D1" presStyleIdx="4" presStyleCnt="5"/>
      <dgm:spPr/>
    </dgm:pt>
    <dgm:pt modelId="{4ED5BE87-CAA6-4552-B53A-46DEB53EFD64}" type="pres">
      <dgm:prSet presAssocID="{3436B024-E09E-4524-A10D-DDDFA0A53CB0}" presName="child" presStyleLbl="alignAccFollowNode1" presStyleIdx="4" presStyleCnt="5" custScaleY="590371">
        <dgm:presLayoutVars>
          <dgm:chMax val="0"/>
          <dgm:bulletEnabled val="1"/>
        </dgm:presLayoutVars>
      </dgm:prSet>
      <dgm:spPr/>
    </dgm:pt>
  </dgm:ptLst>
  <dgm:cxnLst>
    <dgm:cxn modelId="{AF9B4913-41EC-47CE-8D2E-FC35BE8919D4}" type="presOf" srcId="{CF168529-F1A3-44E5-B1F5-7FB2808F4A94}" destId="{B2B60148-2AE4-4136-A0C3-573EF1D81B74}" srcOrd="0" destOrd="0" presId="urn:microsoft.com/office/officeart/2005/8/layout/lProcess1"/>
    <dgm:cxn modelId="{5251B013-2741-4C15-AC89-E04497BAD6A9}" srcId="{79A955B8-9B6E-4119-A9D7-51466C8B98E5}" destId="{1066933A-E8C8-4DE7-BD00-060DC556A47E}" srcOrd="0" destOrd="0" parTransId="{3BADD265-DFF4-4F58-B5F7-A2FE14FE33BC}" sibTransId="{D5C0590A-9C25-4BBE-ACA0-FCB0B0E26636}"/>
    <dgm:cxn modelId="{E3177B2A-CC8F-4A4E-916B-820F5B4B4626}" type="presOf" srcId="{79A955B8-9B6E-4119-A9D7-51466C8B98E5}" destId="{883099CE-0E0C-4FB0-90B4-5A715D9FDE36}" srcOrd="0" destOrd="0" presId="urn:microsoft.com/office/officeart/2005/8/layout/lProcess1"/>
    <dgm:cxn modelId="{461D0332-C82D-45C2-A077-F09F92DFAA43}" srcId="{34BD7F51-6DA8-4380-9A96-231D8CFB4F4D}" destId="{7612BF4D-E2CE-4F93-A106-5B4EBD5DE91D}" srcOrd="0" destOrd="0" parTransId="{F14904BA-43F1-4662-984C-B5A2F7E02348}" sibTransId="{00CBA30E-F6A3-4B81-B53A-7DF870C118F3}"/>
    <dgm:cxn modelId="{F6C37133-2BCB-445C-AA6B-01A38D49B703}" srcId="{79A955B8-9B6E-4119-A9D7-51466C8B98E5}" destId="{6BC2FE45-1766-4BE0-AF57-F3D114B76F25}" srcOrd="3" destOrd="0" parTransId="{F32724D6-6D3F-4FC9-80CD-6BB9A354D1A6}" sibTransId="{F04E2E7C-C06D-4E68-8A5C-596CB4452784}"/>
    <dgm:cxn modelId="{0795E040-475A-4A5E-B831-4EEB7E34799C}" type="presOf" srcId="{34BD7F51-6DA8-4380-9A96-231D8CFB4F4D}" destId="{18774735-5943-4388-9631-2CCD005286A0}" srcOrd="0" destOrd="0" presId="urn:microsoft.com/office/officeart/2005/8/layout/lProcess1"/>
    <dgm:cxn modelId="{57987266-D50D-4316-9A62-3E76BB427CD5}" srcId="{79A955B8-9B6E-4119-A9D7-51466C8B98E5}" destId="{9CF2F73C-155A-4B27-BA2B-DE74C455FD60}" srcOrd="4" destOrd="0" parTransId="{5F828B9D-755B-4484-BF83-BD36BB42DF7D}" sibTransId="{17D3E06E-447A-4F09-8739-2DB764E3DA6C}"/>
    <dgm:cxn modelId="{20F57C47-A8C6-4439-8DA7-0E3E343FC205}" type="presOf" srcId="{7612BF4D-E2CE-4F93-A106-5B4EBD5DE91D}" destId="{03722C3B-B869-45FA-BA9B-7870E2CC88AC}" srcOrd="0" destOrd="0" presId="urn:microsoft.com/office/officeart/2005/8/layout/lProcess1"/>
    <dgm:cxn modelId="{AEF64248-0209-47C6-B4B0-5B6FAECB166B}" type="presOf" srcId="{3436B024-E09E-4524-A10D-DDDFA0A53CB0}" destId="{4ED5BE87-CAA6-4552-B53A-46DEB53EFD64}" srcOrd="0" destOrd="0" presId="urn:microsoft.com/office/officeart/2005/8/layout/lProcess1"/>
    <dgm:cxn modelId="{E083864B-B675-4C6F-B029-5528F49D6E6B}" type="presOf" srcId="{9CF2F73C-155A-4B27-BA2B-DE74C455FD60}" destId="{E8955E51-11EE-4DB4-8A2A-3D54638AD5B2}" srcOrd="0" destOrd="0" presId="urn:microsoft.com/office/officeart/2005/8/layout/lProcess1"/>
    <dgm:cxn modelId="{493AA977-2936-43FC-A822-6B4A5B6AA63D}" type="presOf" srcId="{A9CD2CC4-C95B-433E-B1DB-184070AFB4BC}" destId="{A63A1B15-E92A-4B9E-9196-A148D57E2DD1}" srcOrd="0" destOrd="0" presId="urn:microsoft.com/office/officeart/2005/8/layout/lProcess1"/>
    <dgm:cxn modelId="{8A03248B-DF41-4D92-8525-7F94463D7562}" type="presOf" srcId="{1066933A-E8C8-4DE7-BD00-060DC556A47E}" destId="{396B80F9-9637-4E29-8992-F6A321199323}" srcOrd="0" destOrd="0" presId="urn:microsoft.com/office/officeart/2005/8/layout/lProcess1"/>
    <dgm:cxn modelId="{F39A7B93-099A-4008-98EF-2C95ED54D5A6}" srcId="{9CF2F73C-155A-4B27-BA2B-DE74C455FD60}" destId="{3436B024-E09E-4524-A10D-DDDFA0A53CB0}" srcOrd="0" destOrd="0" parTransId="{79BC9719-08B0-4D71-A318-30A6760FBF4C}" sibTransId="{C7A3CB3C-9946-4280-A9EC-6844C1E07C4D}"/>
    <dgm:cxn modelId="{2490FE9D-9597-4B5B-9C01-4E4A45DA4C9C}" type="presOf" srcId="{6BC2FE45-1766-4BE0-AF57-F3D114B76F25}" destId="{F08CB0DC-7F37-48B0-A582-0FD4B1F3CD56}" srcOrd="0" destOrd="0" presId="urn:microsoft.com/office/officeart/2005/8/layout/lProcess1"/>
    <dgm:cxn modelId="{983F37AA-C702-422F-9F57-B1AAC78F0A5E}" type="presOf" srcId="{F40EEAE7-A5A9-45BA-85D9-51D8C38D20B1}" destId="{D9B9C1FF-44A6-4356-9934-A8C0521119BB}" srcOrd="0" destOrd="0" presId="urn:microsoft.com/office/officeart/2005/8/layout/lProcess1"/>
    <dgm:cxn modelId="{DA48B2BD-A0B0-460C-A86C-DE9820C74796}" type="presOf" srcId="{79BC9719-08B0-4D71-A318-30A6760FBF4C}" destId="{299D2EC6-64B3-4F1D-AB64-36B724755537}" srcOrd="0" destOrd="0" presId="urn:microsoft.com/office/officeart/2005/8/layout/lProcess1"/>
    <dgm:cxn modelId="{B8204EC2-3C44-4162-9F19-073162C7B242}" type="presOf" srcId="{6CDED4A7-C063-4447-8992-1135001D6C8F}" destId="{B01B35E9-EDE5-4603-89F9-266034D8EF37}" srcOrd="0" destOrd="0" presId="urn:microsoft.com/office/officeart/2005/8/layout/lProcess1"/>
    <dgm:cxn modelId="{17F87DC2-FF70-4B79-89A2-3A8B0E6FAED1}" type="presOf" srcId="{7D57FCB0-46FA-4038-98ED-B60BD6196DC4}" destId="{51C6E868-6F6F-4245-878A-8A7FC8C96F88}" srcOrd="0" destOrd="0" presId="urn:microsoft.com/office/officeart/2005/8/layout/lProcess1"/>
    <dgm:cxn modelId="{F5AFACC5-3482-406F-9764-C8EE9AA20E8E}" srcId="{6CDED4A7-C063-4447-8992-1135001D6C8F}" destId="{2C8DBAA0-62CF-4B69-BFC8-D9FFF8B4C454}" srcOrd="0" destOrd="0" parTransId="{F40EEAE7-A5A9-45BA-85D9-51D8C38D20B1}" sibTransId="{741D567A-8EDE-4A3D-AE18-152AF4705F3B}"/>
    <dgm:cxn modelId="{2E1ED7D0-DCA6-442F-BEF7-C8417A49EC3A}" srcId="{1066933A-E8C8-4DE7-BD00-060DC556A47E}" destId="{A9CD2CC4-C95B-433E-B1DB-184070AFB4BC}" srcOrd="0" destOrd="0" parTransId="{CF168529-F1A3-44E5-B1F5-7FB2808F4A94}" sibTransId="{6BA6D090-DC8B-49DC-8DBB-B4C840C18E5B}"/>
    <dgm:cxn modelId="{A34B02D6-29D1-455C-8142-AABE10428D5B}" type="presOf" srcId="{2C8DBAA0-62CF-4B69-BFC8-D9FFF8B4C454}" destId="{2332D612-DCEF-4227-A2B9-474A78B22AFB}" srcOrd="0" destOrd="0" presId="urn:microsoft.com/office/officeart/2005/8/layout/lProcess1"/>
    <dgm:cxn modelId="{6E331CDE-7D6B-4152-A70F-DE661A5B0CA9}" srcId="{79A955B8-9B6E-4119-A9D7-51466C8B98E5}" destId="{34BD7F51-6DA8-4380-9A96-231D8CFB4F4D}" srcOrd="1" destOrd="0" parTransId="{D5903E24-5775-4ABE-A001-C327D522D325}" sibTransId="{04BCA245-C37E-4323-B0C2-F735758616A2}"/>
    <dgm:cxn modelId="{CD397CE8-52AF-429E-B6E6-B20B95B45464}" srcId="{6BC2FE45-1766-4BE0-AF57-F3D114B76F25}" destId="{7D57FCB0-46FA-4038-98ED-B60BD6196DC4}" srcOrd="0" destOrd="0" parTransId="{9B151A04-64A6-4897-8E29-53C81691C6A5}" sibTransId="{EBB3B746-2AE8-44AF-9A29-D84FB9F18806}"/>
    <dgm:cxn modelId="{DD9E94E8-4426-4089-AB95-BC586F05CA8C}" type="presOf" srcId="{F14904BA-43F1-4662-984C-B5A2F7E02348}" destId="{A3FD4535-1948-466A-8B32-3B1A39FBEEAC}" srcOrd="0" destOrd="0" presId="urn:microsoft.com/office/officeart/2005/8/layout/lProcess1"/>
    <dgm:cxn modelId="{E3008DE9-EA40-4FD2-8E2C-7C6D3BD782AD}" srcId="{79A955B8-9B6E-4119-A9D7-51466C8B98E5}" destId="{6CDED4A7-C063-4447-8992-1135001D6C8F}" srcOrd="2" destOrd="0" parTransId="{70643B3F-85AB-41E4-A3DE-C952790C96D1}" sibTransId="{E5DDA595-78A7-4AC3-86B7-6B6EFAFB146D}"/>
    <dgm:cxn modelId="{860F17EA-281C-49A2-931E-80CCBD1831DD}" type="presOf" srcId="{9B151A04-64A6-4897-8E29-53C81691C6A5}" destId="{A059A149-FE6C-4DE6-8061-78AE12F5B66A}" srcOrd="0" destOrd="0" presId="urn:microsoft.com/office/officeart/2005/8/layout/lProcess1"/>
    <dgm:cxn modelId="{6D7AFF12-38C5-464F-9704-FDFAEC62FA20}" type="presParOf" srcId="{883099CE-0E0C-4FB0-90B4-5A715D9FDE36}" destId="{C7FE3CC8-9202-4C21-B6DA-08A007E62BE5}" srcOrd="0" destOrd="0" presId="urn:microsoft.com/office/officeart/2005/8/layout/lProcess1"/>
    <dgm:cxn modelId="{9CAA4E91-97C5-4C12-A0A0-664F74E70D00}" type="presParOf" srcId="{C7FE3CC8-9202-4C21-B6DA-08A007E62BE5}" destId="{396B80F9-9637-4E29-8992-F6A321199323}" srcOrd="0" destOrd="0" presId="urn:microsoft.com/office/officeart/2005/8/layout/lProcess1"/>
    <dgm:cxn modelId="{5027BD94-77CB-4D9F-A2E6-0F4EB3C31009}" type="presParOf" srcId="{C7FE3CC8-9202-4C21-B6DA-08A007E62BE5}" destId="{B2B60148-2AE4-4136-A0C3-573EF1D81B74}" srcOrd="1" destOrd="0" presId="urn:microsoft.com/office/officeart/2005/8/layout/lProcess1"/>
    <dgm:cxn modelId="{E95C213D-729C-4D7D-A19C-3118D349926A}" type="presParOf" srcId="{C7FE3CC8-9202-4C21-B6DA-08A007E62BE5}" destId="{A63A1B15-E92A-4B9E-9196-A148D57E2DD1}" srcOrd="2" destOrd="0" presId="urn:microsoft.com/office/officeart/2005/8/layout/lProcess1"/>
    <dgm:cxn modelId="{92B25FCC-3761-434C-B1D9-F3A11847EC93}" type="presParOf" srcId="{883099CE-0E0C-4FB0-90B4-5A715D9FDE36}" destId="{49B6DACE-0EF7-4617-BB6C-65ABECFC7EF6}" srcOrd="1" destOrd="0" presId="urn:microsoft.com/office/officeart/2005/8/layout/lProcess1"/>
    <dgm:cxn modelId="{3ED7438E-E8D9-4CE6-8DA3-BC2CFD2EA06F}" type="presParOf" srcId="{883099CE-0E0C-4FB0-90B4-5A715D9FDE36}" destId="{AD3A0656-7DD6-4414-9474-797649F1B2F5}" srcOrd="2" destOrd="0" presId="urn:microsoft.com/office/officeart/2005/8/layout/lProcess1"/>
    <dgm:cxn modelId="{51F5D6CB-D779-4423-9F56-4E51D42EF9DB}" type="presParOf" srcId="{AD3A0656-7DD6-4414-9474-797649F1B2F5}" destId="{18774735-5943-4388-9631-2CCD005286A0}" srcOrd="0" destOrd="0" presId="urn:microsoft.com/office/officeart/2005/8/layout/lProcess1"/>
    <dgm:cxn modelId="{15948212-0393-434F-B499-E57D086AE396}" type="presParOf" srcId="{AD3A0656-7DD6-4414-9474-797649F1B2F5}" destId="{A3FD4535-1948-466A-8B32-3B1A39FBEEAC}" srcOrd="1" destOrd="0" presId="urn:microsoft.com/office/officeart/2005/8/layout/lProcess1"/>
    <dgm:cxn modelId="{D0713C9C-19B6-4CB6-AB05-943D4979312A}" type="presParOf" srcId="{AD3A0656-7DD6-4414-9474-797649F1B2F5}" destId="{03722C3B-B869-45FA-BA9B-7870E2CC88AC}" srcOrd="2" destOrd="0" presId="urn:microsoft.com/office/officeart/2005/8/layout/lProcess1"/>
    <dgm:cxn modelId="{FC81D24C-3D55-432D-A283-C1B357D4D7F2}" type="presParOf" srcId="{883099CE-0E0C-4FB0-90B4-5A715D9FDE36}" destId="{1F5FD063-628E-43A4-A47A-CFF500AE4EEA}" srcOrd="3" destOrd="0" presId="urn:microsoft.com/office/officeart/2005/8/layout/lProcess1"/>
    <dgm:cxn modelId="{37790010-4A2F-439E-9374-90B57F10DF76}" type="presParOf" srcId="{883099CE-0E0C-4FB0-90B4-5A715D9FDE36}" destId="{37CB35BF-1711-44CA-940D-D6D9BAA9C8BE}" srcOrd="4" destOrd="0" presId="urn:microsoft.com/office/officeart/2005/8/layout/lProcess1"/>
    <dgm:cxn modelId="{EE263BA8-6911-4CB4-90A2-C9C5EBDD2542}" type="presParOf" srcId="{37CB35BF-1711-44CA-940D-D6D9BAA9C8BE}" destId="{B01B35E9-EDE5-4603-89F9-266034D8EF37}" srcOrd="0" destOrd="0" presId="urn:microsoft.com/office/officeart/2005/8/layout/lProcess1"/>
    <dgm:cxn modelId="{8A01891D-F41D-4337-84D3-A7AC2B9BAEFD}" type="presParOf" srcId="{37CB35BF-1711-44CA-940D-D6D9BAA9C8BE}" destId="{D9B9C1FF-44A6-4356-9934-A8C0521119BB}" srcOrd="1" destOrd="0" presId="urn:microsoft.com/office/officeart/2005/8/layout/lProcess1"/>
    <dgm:cxn modelId="{DE9D810F-6313-4F60-A910-5C3D2628FF25}" type="presParOf" srcId="{37CB35BF-1711-44CA-940D-D6D9BAA9C8BE}" destId="{2332D612-DCEF-4227-A2B9-474A78B22AFB}" srcOrd="2" destOrd="0" presId="urn:microsoft.com/office/officeart/2005/8/layout/lProcess1"/>
    <dgm:cxn modelId="{8D3AEDFB-66AC-43F1-9FB1-50E25D1F5D44}" type="presParOf" srcId="{883099CE-0E0C-4FB0-90B4-5A715D9FDE36}" destId="{A9B09351-7C22-4B69-9CE3-75D810B10FDE}" srcOrd="5" destOrd="0" presId="urn:microsoft.com/office/officeart/2005/8/layout/lProcess1"/>
    <dgm:cxn modelId="{D34A1C39-39E8-4642-BC83-7392BC5D1855}" type="presParOf" srcId="{883099CE-0E0C-4FB0-90B4-5A715D9FDE36}" destId="{6CE2322B-4A72-4DD5-8728-C14D0F0DA916}" srcOrd="6" destOrd="0" presId="urn:microsoft.com/office/officeart/2005/8/layout/lProcess1"/>
    <dgm:cxn modelId="{A142FF28-AE05-4E21-AB2D-4C773EDCED1E}" type="presParOf" srcId="{6CE2322B-4A72-4DD5-8728-C14D0F0DA916}" destId="{F08CB0DC-7F37-48B0-A582-0FD4B1F3CD56}" srcOrd="0" destOrd="0" presId="urn:microsoft.com/office/officeart/2005/8/layout/lProcess1"/>
    <dgm:cxn modelId="{FC8DBAC3-6381-4BDB-A998-8860FC753C78}" type="presParOf" srcId="{6CE2322B-4A72-4DD5-8728-C14D0F0DA916}" destId="{A059A149-FE6C-4DE6-8061-78AE12F5B66A}" srcOrd="1" destOrd="0" presId="urn:microsoft.com/office/officeart/2005/8/layout/lProcess1"/>
    <dgm:cxn modelId="{EA6DFA8B-BFE5-4D19-A070-249981A614D2}" type="presParOf" srcId="{6CE2322B-4A72-4DD5-8728-C14D0F0DA916}" destId="{51C6E868-6F6F-4245-878A-8A7FC8C96F88}" srcOrd="2" destOrd="0" presId="urn:microsoft.com/office/officeart/2005/8/layout/lProcess1"/>
    <dgm:cxn modelId="{27EBFE1C-2BC3-49ED-BDD0-D6BD6790608E}" type="presParOf" srcId="{883099CE-0E0C-4FB0-90B4-5A715D9FDE36}" destId="{4D518A7A-6245-4A1F-A31F-6739EDD05973}" srcOrd="7" destOrd="0" presId="urn:microsoft.com/office/officeart/2005/8/layout/lProcess1"/>
    <dgm:cxn modelId="{1FFB4E42-7803-4D35-B0AA-6440BBC2D05B}" type="presParOf" srcId="{883099CE-0E0C-4FB0-90B4-5A715D9FDE36}" destId="{4E21CC37-D006-4D8D-B298-89F80FB75355}" srcOrd="8" destOrd="0" presId="urn:microsoft.com/office/officeart/2005/8/layout/lProcess1"/>
    <dgm:cxn modelId="{6CCACC50-3228-4558-A87D-23B90A20166F}" type="presParOf" srcId="{4E21CC37-D006-4D8D-B298-89F80FB75355}" destId="{E8955E51-11EE-4DB4-8A2A-3D54638AD5B2}" srcOrd="0" destOrd="0" presId="urn:microsoft.com/office/officeart/2005/8/layout/lProcess1"/>
    <dgm:cxn modelId="{688E2148-B00B-4FC5-905F-58991F631D58}" type="presParOf" srcId="{4E21CC37-D006-4D8D-B298-89F80FB75355}" destId="{299D2EC6-64B3-4F1D-AB64-36B724755537}" srcOrd="1" destOrd="0" presId="urn:microsoft.com/office/officeart/2005/8/layout/lProcess1"/>
    <dgm:cxn modelId="{B7194519-D7F1-408D-83DD-A10F8C05B0DA}" type="presParOf" srcId="{4E21CC37-D006-4D8D-B298-89F80FB75355}" destId="{4ED5BE87-CAA6-4552-B53A-46DEB53EFD64}" srcOrd="2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6B80F9-9637-4E29-8992-F6A321199323}">
      <dsp:nvSpPr>
        <dsp:cNvPr id="0" name=""/>
        <dsp:cNvSpPr/>
      </dsp:nvSpPr>
      <dsp:spPr>
        <a:xfrm>
          <a:off x="162378" y="568"/>
          <a:ext cx="1444493" cy="11421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latin typeface="Calibri" panose="020F0502020204030204"/>
              <a:ea typeface="+mn-ea"/>
              <a:cs typeface="+mn-cs"/>
            </a:rPr>
            <a:t>DGOAE-CGEP-Programas de posgrado</a:t>
          </a:r>
          <a:endParaRPr lang="es-MX" sz="1600" kern="1200" dirty="0"/>
        </a:p>
      </dsp:txBody>
      <dsp:txXfrm>
        <a:off x="195830" y="34020"/>
        <a:ext cx="1377589" cy="1075245"/>
      </dsp:txXfrm>
    </dsp:sp>
    <dsp:sp modelId="{B2B60148-2AE4-4136-A0C3-573EF1D81B74}">
      <dsp:nvSpPr>
        <dsp:cNvPr id="0" name=""/>
        <dsp:cNvSpPr/>
      </dsp:nvSpPr>
      <dsp:spPr>
        <a:xfrm rot="5418495">
          <a:off x="858118" y="1166045"/>
          <a:ext cx="46370" cy="4608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3A1B15-E92A-4B9E-9196-A148D57E2DD1}">
      <dsp:nvSpPr>
        <dsp:cNvPr id="0" name=""/>
        <dsp:cNvSpPr/>
      </dsp:nvSpPr>
      <dsp:spPr>
        <a:xfrm>
          <a:off x="214152" y="1235458"/>
          <a:ext cx="1324808" cy="1671992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Reunión de trabajo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b="1" kern="1200" dirty="0">
              <a:solidFill>
                <a:srgbClr val="FF33CC"/>
              </a:solidFill>
            </a:rPr>
            <a:t>01 septiembre</a:t>
          </a:r>
        </a:p>
      </dsp:txBody>
      <dsp:txXfrm>
        <a:off x="252954" y="1274260"/>
        <a:ext cx="1247204" cy="1594388"/>
      </dsp:txXfrm>
    </dsp:sp>
    <dsp:sp modelId="{18774735-5943-4388-9631-2CCD005286A0}">
      <dsp:nvSpPr>
        <dsp:cNvPr id="0" name=""/>
        <dsp:cNvSpPr/>
      </dsp:nvSpPr>
      <dsp:spPr>
        <a:xfrm>
          <a:off x="1767650" y="568"/>
          <a:ext cx="1264080" cy="7987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Calibri" panose="020F0502020204030204"/>
              <a:ea typeface="+mn-ea"/>
              <a:cs typeface="+mn-cs"/>
            </a:rPr>
            <a:t>Programas de Posgrado</a:t>
          </a:r>
          <a:endParaRPr lang="es-MX" sz="1800" kern="1200" dirty="0"/>
        </a:p>
      </dsp:txBody>
      <dsp:txXfrm>
        <a:off x="1791046" y="23964"/>
        <a:ext cx="1217288" cy="751996"/>
      </dsp:txXfrm>
    </dsp:sp>
    <dsp:sp modelId="{A3FD4535-1948-466A-8B32-3B1A39FBEEAC}">
      <dsp:nvSpPr>
        <dsp:cNvPr id="0" name=""/>
        <dsp:cNvSpPr/>
      </dsp:nvSpPr>
      <dsp:spPr>
        <a:xfrm rot="5406307">
          <a:off x="2359075" y="855788"/>
          <a:ext cx="79474" cy="4608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722C3B-B869-45FA-BA9B-7870E2CC88AC}">
      <dsp:nvSpPr>
        <dsp:cNvPr id="0" name=""/>
        <dsp:cNvSpPr/>
      </dsp:nvSpPr>
      <dsp:spPr>
        <a:xfrm>
          <a:off x="1751533" y="958305"/>
          <a:ext cx="1290689" cy="1949145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50" kern="1200" dirty="0">
              <a:latin typeface="Calibri" panose="020F0502020204030204"/>
              <a:ea typeface="+mn-ea"/>
              <a:cs typeface="+mn-cs"/>
            </a:rPr>
            <a:t>Envían la información de aspirantes </a:t>
          </a:r>
        </a:p>
        <a:p>
          <a:pPr marL="0" lvl="0" indent="0" algn="ctr" defTabSz="7334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(Concentrado en formato </a:t>
          </a:r>
          <a:r>
            <a:rPr lang="es-ES" sz="1400" b="1" kern="1200" dirty="0">
              <a:latin typeface="Calibri" panose="020F0502020204030204"/>
              <a:ea typeface="+mn-ea"/>
              <a:cs typeface="+mn-cs"/>
            </a:rPr>
            <a:t>Excel</a:t>
          </a:r>
          <a:r>
            <a:rPr lang="es-ES" sz="1400" kern="1200" dirty="0">
              <a:latin typeface="Calibri" panose="020F0502020204030204"/>
              <a:ea typeface="+mn-ea"/>
              <a:cs typeface="+mn-cs"/>
            </a:rPr>
            <a:t> .xls)</a:t>
          </a:r>
          <a:endParaRPr lang="es-MX" sz="1700" kern="1200" dirty="0"/>
        </a:p>
      </dsp:txBody>
      <dsp:txXfrm>
        <a:off x="1789336" y="996108"/>
        <a:ext cx="1215083" cy="1873539"/>
      </dsp:txXfrm>
    </dsp:sp>
    <dsp:sp modelId="{B01B35E9-EDE5-4603-89F9-266034D8EF37}">
      <dsp:nvSpPr>
        <dsp:cNvPr id="0" name=""/>
        <dsp:cNvSpPr/>
      </dsp:nvSpPr>
      <dsp:spPr>
        <a:xfrm>
          <a:off x="3296615" y="568"/>
          <a:ext cx="1274551" cy="6822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i="0" kern="1200" dirty="0"/>
            <a:t>CGEP</a:t>
          </a:r>
        </a:p>
      </dsp:txBody>
      <dsp:txXfrm>
        <a:off x="3316596" y="20549"/>
        <a:ext cx="1234589" cy="642248"/>
      </dsp:txXfrm>
    </dsp:sp>
    <dsp:sp modelId="{D9B9C1FF-44A6-4356-9934-A8C0521119BB}">
      <dsp:nvSpPr>
        <dsp:cNvPr id="0" name=""/>
        <dsp:cNvSpPr/>
      </dsp:nvSpPr>
      <dsp:spPr>
        <a:xfrm rot="5201456">
          <a:off x="3919687" y="736313"/>
          <a:ext cx="76704" cy="4608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32D612-DCEF-4227-A2B9-474A78B22AFB}">
      <dsp:nvSpPr>
        <dsp:cNvPr id="0" name=""/>
        <dsp:cNvSpPr/>
      </dsp:nvSpPr>
      <dsp:spPr>
        <a:xfrm>
          <a:off x="3280972" y="835933"/>
          <a:ext cx="1482763" cy="2071517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>
              <a:latin typeface="Calibri" panose="020F0502020204030204"/>
              <a:ea typeface="+mn-ea"/>
              <a:cs typeface="+mn-cs"/>
            </a:rPr>
            <a:t>Integra y envía a la DGOAE los </a:t>
          </a:r>
          <a:r>
            <a:rPr lang="es-ES" sz="1700" b="1" kern="1200" dirty="0">
              <a:latin typeface="Calibri" panose="020F0502020204030204"/>
              <a:ea typeface="+mn-ea"/>
              <a:cs typeface="+mn-cs"/>
            </a:rPr>
            <a:t>concentrados de información  </a:t>
          </a:r>
          <a:r>
            <a:rPr lang="es-ES" sz="1700" kern="1200" dirty="0">
              <a:latin typeface="Calibri" panose="020F0502020204030204"/>
              <a:ea typeface="+mn-ea"/>
              <a:cs typeface="+mn-cs"/>
            </a:rPr>
            <a:t>para carga en el sistema de aspirantes </a:t>
          </a:r>
          <a:endParaRPr lang="es-MX" sz="1700" kern="1200" dirty="0"/>
        </a:p>
      </dsp:txBody>
      <dsp:txXfrm>
        <a:off x="3324401" y="879362"/>
        <a:ext cx="1395905" cy="1984659"/>
      </dsp:txXfrm>
    </dsp:sp>
    <dsp:sp modelId="{F08CB0DC-7F37-48B0-A582-0FD4B1F3CD56}">
      <dsp:nvSpPr>
        <dsp:cNvPr id="0" name=""/>
        <dsp:cNvSpPr/>
      </dsp:nvSpPr>
      <dsp:spPr>
        <a:xfrm>
          <a:off x="4835196" y="568"/>
          <a:ext cx="1267156" cy="70486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>
              <a:latin typeface="Calibri" panose="020F0502020204030204"/>
              <a:ea typeface="+mn-ea"/>
              <a:cs typeface="+mn-cs"/>
            </a:rPr>
            <a:t>Programas de Posgrado</a:t>
          </a:r>
          <a:endParaRPr lang="es-MX" sz="1800" kern="1200" dirty="0"/>
        </a:p>
      </dsp:txBody>
      <dsp:txXfrm>
        <a:off x="4855841" y="21213"/>
        <a:ext cx="1225866" cy="663576"/>
      </dsp:txXfrm>
    </dsp:sp>
    <dsp:sp modelId="{A059A149-FE6C-4DE6-8061-78AE12F5B66A}">
      <dsp:nvSpPr>
        <dsp:cNvPr id="0" name=""/>
        <dsp:cNvSpPr/>
      </dsp:nvSpPr>
      <dsp:spPr>
        <a:xfrm rot="5292296">
          <a:off x="5398555" y="762438"/>
          <a:ext cx="168061" cy="62442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C6E868-6F6F-4245-878A-8A7FC8C96F88}">
      <dsp:nvSpPr>
        <dsp:cNvPr id="0" name=""/>
        <dsp:cNvSpPr/>
      </dsp:nvSpPr>
      <dsp:spPr>
        <a:xfrm>
          <a:off x="4870379" y="881884"/>
          <a:ext cx="1292058" cy="1982040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>
              <a:latin typeface="Calibri" panose="020F0502020204030204"/>
              <a:ea typeface="+mn-ea"/>
              <a:cs typeface="+mn-cs"/>
            </a:rPr>
            <a:t>Darán instrucciones a los aspirantes por correo  electrónico </a:t>
          </a:r>
          <a:r>
            <a:rPr lang="es-ES" sz="1400" kern="1200" dirty="0">
              <a:latin typeface="Calibri" panose="020F0502020204030204"/>
              <a:ea typeface="+mn-ea"/>
              <a:cs typeface="+mn-cs"/>
            </a:rPr>
            <a:t>(</a:t>
          </a:r>
          <a:r>
            <a:rPr lang="es-ES" sz="1400" b="1" kern="1200" dirty="0">
              <a:latin typeface="Calibri" panose="020F0502020204030204"/>
              <a:ea typeface="+mn-ea"/>
              <a:cs typeface="+mn-cs"/>
            </a:rPr>
            <a:t>Documento Propuesta</a:t>
          </a:r>
          <a:r>
            <a:rPr lang="es-ES" sz="1400" kern="1200" dirty="0">
              <a:latin typeface="Calibri" panose="020F0502020204030204"/>
              <a:ea typeface="+mn-ea"/>
              <a:cs typeface="+mn-cs"/>
            </a:rPr>
            <a:t>)</a:t>
          </a:r>
          <a:endParaRPr lang="es-MX" sz="1500" kern="1200" dirty="0"/>
        </a:p>
      </dsp:txBody>
      <dsp:txXfrm>
        <a:off x="4908222" y="919727"/>
        <a:ext cx="1216372" cy="1906354"/>
      </dsp:txXfrm>
    </dsp:sp>
    <dsp:sp modelId="{E8955E51-11EE-4DB4-8A2A-3D54638AD5B2}">
      <dsp:nvSpPr>
        <dsp:cNvPr id="0" name=""/>
        <dsp:cNvSpPr/>
      </dsp:nvSpPr>
      <dsp:spPr>
        <a:xfrm>
          <a:off x="6262278" y="568"/>
          <a:ext cx="1271875" cy="960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Calibri" panose="020F0502020204030204"/>
              <a:ea typeface="+mn-ea"/>
              <a:cs typeface="+mn-cs"/>
            </a:rPr>
            <a:t>DGOAE-Programas Posgrado</a:t>
          </a:r>
          <a:endParaRPr lang="es-MX" sz="1800" kern="1200" dirty="0"/>
        </a:p>
      </dsp:txBody>
      <dsp:txXfrm>
        <a:off x="6290420" y="28710"/>
        <a:ext cx="1215591" cy="904538"/>
      </dsp:txXfrm>
    </dsp:sp>
    <dsp:sp modelId="{299D2EC6-64B3-4F1D-AB64-36B724755537}">
      <dsp:nvSpPr>
        <dsp:cNvPr id="0" name=""/>
        <dsp:cNvSpPr/>
      </dsp:nvSpPr>
      <dsp:spPr>
        <a:xfrm rot="5400000">
          <a:off x="6875173" y="984434"/>
          <a:ext cx="46085" cy="46085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ED5BE87-CAA6-4552-B53A-46DEB53EFD64}">
      <dsp:nvSpPr>
        <dsp:cNvPr id="0" name=""/>
        <dsp:cNvSpPr/>
      </dsp:nvSpPr>
      <dsp:spPr>
        <a:xfrm>
          <a:off x="6371524" y="1053562"/>
          <a:ext cx="1053383" cy="1554717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Atención a dudas</a:t>
          </a:r>
        </a:p>
      </dsp:txBody>
      <dsp:txXfrm>
        <a:off x="6402377" y="1084415"/>
        <a:ext cx="991677" cy="14930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pPr>
              <a:defRPr/>
            </a:pPr>
            <a:fld id="{58ACA563-F5CE-4AAD-AB00-B9AE373353F7}" type="datetimeFigureOut">
              <a:rPr lang="es-MX"/>
              <a:pPr>
                <a:defRPr/>
              </a:pPr>
              <a:t>31/08/2026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pPr>
              <a:defRPr/>
            </a:pPr>
            <a:fld id="{BD5B9543-7761-4749-B62B-8DC51627CF95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02808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102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182" y="4415790"/>
            <a:ext cx="550545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102" y="8829967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360F488-8294-40B5-A2F5-1BC562D6118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0264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60F488-8294-40B5-A2F5-1BC562D61181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259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60F488-8294-40B5-A2F5-1BC562D61181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5036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60F488-8294-40B5-A2F5-1BC562D61181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551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60F488-8294-40B5-A2F5-1BC562D61181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7610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C:\diseño\PANTALLAS POWER\PANTALLAS POWER dgoae\fondo 1.gif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4613"/>
            <a:ext cx="9144000" cy="678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verom@posgrado.unam.mx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rienta.instrumentos.unam.mx/MEPSI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xcontla@comunidad.unam.m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A47B215-AD9B-41CD-A3D0-44883AE173A0}"/>
              </a:ext>
            </a:extLst>
          </p:cNvPr>
          <p:cNvSpPr/>
          <p:nvPr/>
        </p:nvSpPr>
        <p:spPr>
          <a:xfrm>
            <a:off x="2123728" y="1772816"/>
            <a:ext cx="532859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Aft>
                <a:spcPts val="600"/>
              </a:spcAft>
              <a:defRPr/>
            </a:pPr>
            <a:r>
              <a:rPr lang="es-MX" sz="4400" b="1" dirty="0">
                <a:solidFill>
                  <a:schemeClr val="accent6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Times New Roman" pitchFamily="18" charset="0"/>
              </a:rPr>
              <a:t>Aplicación MEPSI</a:t>
            </a:r>
          </a:p>
          <a:p>
            <a:pPr algn="ctr" eaLnBrk="0" hangingPunct="0">
              <a:spcAft>
                <a:spcPts val="600"/>
              </a:spcAft>
              <a:defRPr/>
            </a:pPr>
            <a:endParaRPr lang="es-MX" sz="4400" b="1" i="1" dirty="0">
              <a:solidFill>
                <a:srgbClr val="002060"/>
              </a:solidFill>
              <a:latin typeface="Candara" panose="020E0502030303020204" pitchFamily="34" charset="0"/>
              <a:cs typeface="Times New Roman" pitchFamily="18" charset="0"/>
            </a:endParaRPr>
          </a:p>
          <a:p>
            <a:pPr algn="ctr" eaLnBrk="0" hangingPunct="0">
              <a:spcAft>
                <a:spcPts val="600"/>
              </a:spcAft>
              <a:defRPr/>
            </a:pPr>
            <a:r>
              <a:rPr lang="es-MX" sz="3600" b="1" dirty="0">
                <a:solidFill>
                  <a:srgbClr val="CD971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Times New Roman" pitchFamily="18" charset="0"/>
              </a:rPr>
              <a:t>Proceso de ingreso al semestre 2027-2</a:t>
            </a:r>
          </a:p>
        </p:txBody>
      </p:sp>
      <p:pic>
        <p:nvPicPr>
          <p:cNvPr id="4" name="Imagen 3" descr="Unam-Posgrado">
            <a:extLst>
              <a:ext uri="{FF2B5EF4-FFF2-40B4-BE49-F238E27FC236}">
                <a16:creationId xmlns:a16="http://schemas.microsoft.com/office/drawing/2014/main" id="{B8AE9284-9354-49AB-9884-FDB068467CB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374023"/>
            <a:ext cx="2124236" cy="85878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8BA75DE-2343-4654-8156-43DFA4E535F4}"/>
              </a:ext>
            </a:extLst>
          </p:cNvPr>
          <p:cNvSpPr/>
          <p:nvPr/>
        </p:nvSpPr>
        <p:spPr>
          <a:xfrm>
            <a:off x="5751574" y="5805264"/>
            <a:ext cx="32704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b="1" dirty="0">
                <a:solidFill>
                  <a:schemeClr val="accent2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Martes 01 de septiembre de 2026</a:t>
            </a:r>
            <a:endParaRPr lang="es-MX" sz="1600" b="1" dirty="0">
              <a:solidFill>
                <a:schemeClr val="accent2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pic>
        <p:nvPicPr>
          <p:cNvPr id="7" name="Picture 4" descr="Dirección General de Orientación y Atención Educativa (DGOSE)">
            <a:extLst>
              <a:ext uri="{FF2B5EF4-FFF2-40B4-BE49-F238E27FC236}">
                <a16:creationId xmlns:a16="http://schemas.microsoft.com/office/drawing/2014/main" id="{1D7A4269-F9D7-48E6-A160-9ADAADD8B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60648"/>
            <a:ext cx="1063005" cy="106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966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EAC57068-9AE7-44E9-AD09-CF9BF1FA1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153618"/>
            <a:ext cx="8456364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5750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El Manual de Evaluación Psicológica (MEPSI) es una compilación de pruebas de </a:t>
            </a:r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aptitudes académicas y características personales</a:t>
            </a: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.</a:t>
            </a:r>
          </a:p>
          <a:p>
            <a:pPr marL="285750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s-MX" dirty="0">
              <a:solidFill>
                <a:schemeClr val="accent2">
                  <a:lumMod val="50000"/>
                </a:schemeClr>
              </a:solidFill>
              <a:latin typeface="Arial" charset="0"/>
              <a:cs typeface="Times New Roman" pitchFamily="18" charset="0"/>
            </a:endParaRPr>
          </a:p>
          <a:p>
            <a:pPr marL="285750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Consta de 8 pruebas</a:t>
            </a:r>
          </a:p>
          <a:p>
            <a:pPr marL="742950" lvl="1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cinco de aptitudes</a:t>
            </a: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, que deben resolverse en </a:t>
            </a:r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tiempos predeterminados</a:t>
            </a:r>
          </a:p>
          <a:p>
            <a:pPr marL="742950" lvl="1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tres de actitudes</a:t>
            </a: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, cuyo tiempo de </a:t>
            </a:r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ejecución es libre</a:t>
            </a:r>
          </a:p>
          <a:p>
            <a:pPr marL="742950" lvl="1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s-MX" b="1" dirty="0">
              <a:solidFill>
                <a:schemeClr val="accent2">
                  <a:lumMod val="50000"/>
                </a:schemeClr>
              </a:solidFill>
              <a:latin typeface="Arial" charset="0"/>
              <a:cs typeface="Times New Roman" pitchFamily="18" charset="0"/>
            </a:endParaRPr>
          </a:p>
          <a:p>
            <a:pPr marL="285750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Así como </a:t>
            </a:r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tres cuestionarios </a:t>
            </a: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de disposiciones psicosociales. </a:t>
            </a:r>
          </a:p>
          <a:p>
            <a:pPr marL="285750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es-MX" dirty="0">
              <a:solidFill>
                <a:schemeClr val="accent2">
                  <a:lumMod val="50000"/>
                </a:schemeClr>
              </a:solidFill>
              <a:latin typeface="Arial" charset="0"/>
              <a:cs typeface="Times New Roman" pitchFamily="18" charset="0"/>
            </a:endParaRPr>
          </a:p>
          <a:p>
            <a:pPr marL="285750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La duración es de </a:t>
            </a:r>
            <a:r>
              <a:rPr lang="es-MX" b="1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150 minutos </a:t>
            </a: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aproximadamente.</a:t>
            </a:r>
          </a:p>
          <a:p>
            <a:pPr algn="ctr" eaLnBrk="0" hangingPunct="0">
              <a:spcAft>
                <a:spcPts val="600"/>
              </a:spcAft>
              <a:defRPr/>
            </a:pPr>
            <a:endParaRPr lang="es-MX" b="1" dirty="0">
              <a:solidFill>
                <a:schemeClr val="accent2">
                  <a:lumMod val="50000"/>
                </a:schemeClr>
              </a:solidFill>
              <a:latin typeface="Arial" charset="0"/>
              <a:cs typeface="Times New Roman" pitchFamily="18" charset="0"/>
            </a:endParaRPr>
          </a:p>
          <a:p>
            <a:pPr eaLnBrk="0" hangingPunct="0">
              <a:spcAft>
                <a:spcPts val="600"/>
              </a:spcAft>
              <a:defRPr/>
            </a:pPr>
            <a:endParaRPr lang="es-MX" b="1" dirty="0">
              <a:solidFill>
                <a:schemeClr val="accent2">
                  <a:lumMod val="50000"/>
                </a:schemeClr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411C76A-881C-4BDF-8C22-6AAC7FA7F2CF}"/>
              </a:ext>
            </a:extLst>
          </p:cNvPr>
          <p:cNvSpPr/>
          <p:nvPr/>
        </p:nvSpPr>
        <p:spPr>
          <a:xfrm>
            <a:off x="1907704" y="764704"/>
            <a:ext cx="25090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Sobre la prueba</a:t>
            </a:r>
          </a:p>
        </p:txBody>
      </p:sp>
    </p:spTree>
    <p:extLst>
      <p:ext uri="{BB962C8B-B14F-4D97-AF65-F5344CB8AC3E}">
        <p14:creationId xmlns:p14="http://schemas.microsoft.com/office/powerpoint/2010/main" val="242894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3CED6-108C-40FA-0762-7A6DDD0B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E29A3522-6996-87E1-1CA7-7BA1027E9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778333"/>
            <a:ext cx="7344816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5750" indent="-285750" algn="just" eaLnBrk="0" hangingPunct="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Arial" charset="0"/>
                <a:cs typeface="Times New Roman" pitchFamily="18" charset="0"/>
              </a:rPr>
              <a:t>A continuación se muestran el número de reactivos y el tiempo máximo para queda prueba</a:t>
            </a:r>
          </a:p>
          <a:p>
            <a:pPr algn="ctr" eaLnBrk="0" hangingPunct="0">
              <a:spcAft>
                <a:spcPts val="600"/>
              </a:spcAft>
              <a:defRPr/>
            </a:pPr>
            <a:endParaRPr lang="es-MX" b="1" dirty="0">
              <a:solidFill>
                <a:schemeClr val="accent2">
                  <a:lumMod val="50000"/>
                </a:schemeClr>
              </a:solidFill>
              <a:latin typeface="Arial" charset="0"/>
              <a:cs typeface="Times New Roman" pitchFamily="18" charset="0"/>
            </a:endParaRPr>
          </a:p>
          <a:p>
            <a:pPr eaLnBrk="0" hangingPunct="0">
              <a:spcAft>
                <a:spcPts val="600"/>
              </a:spcAft>
              <a:defRPr/>
            </a:pPr>
            <a:endParaRPr lang="es-MX" b="1" dirty="0">
              <a:solidFill>
                <a:schemeClr val="accent2">
                  <a:lumMod val="50000"/>
                </a:schemeClr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9F731E4-0B2B-290D-0911-C849B5322991}"/>
              </a:ext>
            </a:extLst>
          </p:cNvPr>
          <p:cNvSpPr/>
          <p:nvPr/>
        </p:nvSpPr>
        <p:spPr>
          <a:xfrm>
            <a:off x="1907704" y="764704"/>
            <a:ext cx="25090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Sobre la prueba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3452073-BF33-DBAE-7468-AC47DFD9E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91271"/>
              </p:ext>
            </p:extLst>
          </p:nvPr>
        </p:nvGraphicFramePr>
        <p:xfrm>
          <a:off x="827584" y="2780928"/>
          <a:ext cx="7416822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082">
                  <a:extLst>
                    <a:ext uri="{9D8B030D-6E8A-4147-A177-3AD203B41FA5}">
                      <a16:colId xmlns:a16="http://schemas.microsoft.com/office/drawing/2014/main" val="3010198244"/>
                    </a:ext>
                  </a:extLst>
                </a:gridCol>
                <a:gridCol w="1335595">
                  <a:extLst>
                    <a:ext uri="{9D8B030D-6E8A-4147-A177-3AD203B41FA5}">
                      <a16:colId xmlns:a16="http://schemas.microsoft.com/office/drawing/2014/main" val="3876394940"/>
                    </a:ext>
                  </a:extLst>
                </a:gridCol>
                <a:gridCol w="2143803">
                  <a:extLst>
                    <a:ext uri="{9D8B030D-6E8A-4147-A177-3AD203B41FA5}">
                      <a16:colId xmlns:a16="http://schemas.microsoft.com/office/drawing/2014/main" val="36747896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317456588"/>
                    </a:ext>
                  </a:extLst>
                </a:gridCol>
                <a:gridCol w="1512166">
                  <a:extLst>
                    <a:ext uri="{9D8B030D-6E8A-4147-A177-3AD203B41FA5}">
                      <a16:colId xmlns:a16="http://schemas.microsoft.com/office/drawing/2014/main" val="3224988994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ctr"/>
                      <a:r>
                        <a:rPr lang="es-MX" sz="18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Parte</a:t>
                      </a:r>
                      <a:endParaRPr lang="es-MX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Sección</a:t>
                      </a:r>
                      <a:endParaRPr lang="es-MX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Nombre Prueba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Número de reactivos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Tiempo máximo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405375"/>
                  </a:ext>
                </a:extLst>
              </a:tr>
              <a:tr h="3330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Razonamiento Abstracto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132476"/>
                  </a:ext>
                </a:extLst>
              </a:tr>
              <a:tr h="3330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Razonamiento Abstracto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6143"/>
                  </a:ext>
                </a:extLst>
              </a:tr>
              <a:tr h="3330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Razonamiento Verbal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881273"/>
                  </a:ext>
                </a:extLst>
              </a:tr>
              <a:tr h="3330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Razonamiento Verbal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106043"/>
                  </a:ext>
                </a:extLst>
              </a:tr>
              <a:tr h="3330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Razonamiento Verbal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189886"/>
                  </a:ext>
                </a:extLst>
              </a:tr>
              <a:tr h="3330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Actitudes y Personalidad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No Aplica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865762"/>
                  </a:ext>
                </a:extLst>
              </a:tr>
              <a:tr h="3330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Actitudes y Personalidad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No Aplica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940053"/>
                  </a:ext>
                </a:extLst>
              </a:tr>
              <a:tr h="3330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Actitudes y Personalidad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No Aplica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262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788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C0A0EA3-948D-49CF-8B19-184276E82FBA}"/>
              </a:ext>
            </a:extLst>
          </p:cNvPr>
          <p:cNvSpPr/>
          <p:nvPr/>
        </p:nvSpPr>
        <p:spPr>
          <a:xfrm>
            <a:off x="1259632" y="836712"/>
            <a:ext cx="37048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750" b="1" dirty="0">
                <a:solidFill>
                  <a:schemeClr val="bg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Histórico de la aplicación en línea</a:t>
            </a:r>
          </a:p>
          <a:p>
            <a:r>
              <a:rPr lang="es-ES" sz="1750" b="1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CA2E629-3BEE-4F56-9E03-F87AA1334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922048"/>
              </p:ext>
            </p:extLst>
          </p:nvPr>
        </p:nvGraphicFramePr>
        <p:xfrm>
          <a:off x="323528" y="1268760"/>
          <a:ext cx="8064896" cy="5041689"/>
        </p:xfrm>
        <a:graphic>
          <a:graphicData uri="http://schemas.openxmlformats.org/drawingml/2006/table">
            <a:tbl>
              <a:tblPr firstRow="1" bandRow="1"/>
              <a:tblGrid>
                <a:gridCol w="1732058">
                  <a:extLst>
                    <a:ext uri="{9D8B030D-6E8A-4147-A177-3AD203B41FA5}">
                      <a16:colId xmlns:a16="http://schemas.microsoft.com/office/drawing/2014/main" val="2329443009"/>
                    </a:ext>
                  </a:extLst>
                </a:gridCol>
                <a:gridCol w="1595149">
                  <a:extLst>
                    <a:ext uri="{9D8B030D-6E8A-4147-A177-3AD203B41FA5}">
                      <a16:colId xmlns:a16="http://schemas.microsoft.com/office/drawing/2014/main" val="2835597004"/>
                    </a:ext>
                  </a:extLst>
                </a:gridCol>
                <a:gridCol w="1795737">
                  <a:extLst>
                    <a:ext uri="{9D8B030D-6E8A-4147-A177-3AD203B41FA5}">
                      <a16:colId xmlns:a16="http://schemas.microsoft.com/office/drawing/2014/main" val="1651133724"/>
                    </a:ext>
                  </a:extLst>
                </a:gridCol>
                <a:gridCol w="2941952">
                  <a:extLst>
                    <a:ext uri="{9D8B030D-6E8A-4147-A177-3AD203B41FA5}">
                      <a16:colId xmlns:a16="http://schemas.microsoft.com/office/drawing/2014/main" val="3723638933"/>
                    </a:ext>
                  </a:extLst>
                </a:gridCol>
              </a:tblGrid>
              <a:tr h="7008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MX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Semestre 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MX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Programas participantes 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MX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Total de aplicaciones (aspirantes)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s-MX" sz="1800" b="1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" charset="0"/>
                          <a:ea typeface="+mn-ea"/>
                          <a:cs typeface="Times New Roman" pitchFamily="18" charset="0"/>
                        </a:rPr>
                        <a:t>Aplicaciones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0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225447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2021-2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1,516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 diferentes fechas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342863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2022-1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2,565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 acordaron fechas específicas 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116308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2022-2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1,872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algn="l" rtl="0" fontAlgn="ctr"/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Cuatro fechas establecidas en el cronograma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719006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2023-1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2,001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4690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2023-2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2,127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734413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2024-1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2,851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71932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2024-2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1,649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843785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3,387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0126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2025-2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2,873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36445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2026-1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3,111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31272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2026-2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1,905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885745"/>
                  </a:ext>
                </a:extLst>
              </a:tr>
              <a:tr h="337781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2027-1</a:t>
                      </a:r>
                    </a:p>
                  </a:txBody>
                  <a:tcPr marL="7729" marR="7729" marT="7729" marB="0" anchor="ctr">
                    <a:lnL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-</a:t>
                      </a:r>
                    </a:p>
                  </a:txBody>
                  <a:tcPr marL="7729" marR="7729" marT="772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D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805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903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D940C2F-37BA-4154-847D-2E59B1210A18}"/>
              </a:ext>
            </a:extLst>
          </p:cNvPr>
          <p:cNvSpPr/>
          <p:nvPr/>
        </p:nvSpPr>
        <p:spPr>
          <a:xfrm>
            <a:off x="251520" y="1257047"/>
            <a:ext cx="7992888" cy="561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b="1" dirty="0">
                <a:solidFill>
                  <a:srgbClr val="CD971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REGISTRO DE ASPIRANTES.</a:t>
            </a:r>
          </a:p>
          <a:p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La persona responsable enviará por correo electrónico, el </a:t>
            </a:r>
            <a:r>
              <a:rPr lang="es-MX" sz="1300" b="1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listado de los aspirantes </a:t>
            </a:r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en una sola hoja de Excel para que una vez que se cuente con el concentrado se haga llegar a la DGOAE.</a:t>
            </a:r>
          </a:p>
          <a:p>
            <a:endParaRPr lang="es-MX" sz="800" dirty="0">
              <a:solidFill>
                <a:srgbClr val="002060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Para las aplicaciones 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>
                <a:solidFill>
                  <a:srgbClr val="CC0099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22 de septiembre de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>
                <a:solidFill>
                  <a:srgbClr val="CC0099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06 de octubre de 2026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>
                <a:solidFill>
                  <a:srgbClr val="CC0099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20 de octubre de 2026.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300" dirty="0">
                <a:solidFill>
                  <a:srgbClr val="CC0099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03 de noviembre de 2026.</a:t>
            </a:r>
          </a:p>
          <a:p>
            <a:endParaRPr lang="es-MX" sz="1300" dirty="0">
              <a:solidFill>
                <a:srgbClr val="002060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Enviar al correo </a:t>
            </a:r>
            <a:r>
              <a:rPr lang="es-MX" sz="1300" dirty="0">
                <a:solidFill>
                  <a:srgbClr val="CC00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verom@posgrado.unam.mx</a:t>
            </a:r>
            <a:r>
              <a:rPr lang="es-MX" sz="1300" dirty="0">
                <a:solidFill>
                  <a:srgbClr val="CC0099"/>
                </a:solidFill>
              </a:rPr>
              <a:t> </a:t>
            </a:r>
            <a:endParaRPr lang="es-MX" sz="1300" dirty="0">
              <a:solidFill>
                <a:srgbClr val="CC0099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endParaRPr lang="es-MX" sz="800" b="1" dirty="0">
              <a:solidFill>
                <a:srgbClr val="CD9711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lang="es-MX" sz="1300" b="1" dirty="0">
                <a:solidFill>
                  <a:srgbClr val="CD971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REGISTRO EN SISTEMA.</a:t>
            </a:r>
          </a:p>
          <a:p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La DGOAE realizará el registro de aspirantes y devolverá la información a los enlaces de la CGEP.</a:t>
            </a:r>
          </a:p>
          <a:p>
            <a:endParaRPr lang="es-MX" sz="800" dirty="0">
              <a:solidFill>
                <a:srgbClr val="002060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lang="es-MX" sz="1300" b="1" dirty="0">
                <a:solidFill>
                  <a:srgbClr val="CD971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USUARIO Y CONTRASEÑA.</a:t>
            </a:r>
          </a:p>
          <a:p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Cada </a:t>
            </a:r>
            <a:r>
              <a:rPr lang="es-MX" sz="1300" b="1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Programa de Posgrado </a:t>
            </a:r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enviará a los aspirantes por correo electrónico: </a:t>
            </a:r>
          </a:p>
          <a:p>
            <a:pPr marL="342900" indent="-342900">
              <a:buAutoNum type="alphaLcParenR"/>
            </a:pPr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liga de acceso a plataforma de aplicación de la prueba y </a:t>
            </a:r>
          </a:p>
          <a:p>
            <a:pPr marL="342900" indent="-342900">
              <a:buAutoNum type="alphaLcParenR"/>
            </a:pPr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nombre de usuario y contraseña de ingreso a la aplicación </a:t>
            </a:r>
            <a:r>
              <a:rPr lang="es-MX" sz="1300" b="1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(se cuenta con un formato para ello).</a:t>
            </a:r>
          </a:p>
          <a:p>
            <a:endParaRPr lang="es-MX" sz="1300" dirty="0">
              <a:solidFill>
                <a:srgbClr val="002060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lang="es-MX" sz="1300" b="1" dirty="0">
                <a:solidFill>
                  <a:srgbClr val="CD971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APLICACIÓN.</a:t>
            </a:r>
          </a:p>
          <a:p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La DGOAE abrirá el sistema de aplicación en el horario y fechas programadas y los aspirantes dispondrán de 150 minutos para realizar la prueba.</a:t>
            </a:r>
          </a:p>
          <a:p>
            <a:endParaRPr lang="es-MX" sz="800" dirty="0">
              <a:solidFill>
                <a:srgbClr val="002060"/>
              </a:solidFill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  <a:p>
            <a:r>
              <a:rPr lang="es-MX" sz="1300" b="1" dirty="0">
                <a:solidFill>
                  <a:srgbClr val="CD971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RESULTADOS.</a:t>
            </a:r>
          </a:p>
          <a:p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La DGOAE, generará los reportes y los enviará por correo electrónico al titular y/o responsable del Programa de Posgrado solicitante en la fecha programada.</a:t>
            </a:r>
          </a:p>
          <a:p>
            <a:r>
              <a:rPr lang="es-MX" sz="13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</a:p>
          <a:p>
            <a:r>
              <a:rPr lang="es-MX" sz="1400" dirty="0">
                <a:solidFill>
                  <a:srgbClr val="002060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La entrega de resultados dependerá del número de aspirantes.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A598A2-B594-4546-990D-58679D1EC571}"/>
              </a:ext>
            </a:extLst>
          </p:cNvPr>
          <p:cNvSpPr/>
          <p:nvPr/>
        </p:nvSpPr>
        <p:spPr>
          <a:xfrm>
            <a:off x="1701788" y="622429"/>
            <a:ext cx="3014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Recordatorio sobre las etapas de la aplicación</a:t>
            </a:r>
          </a:p>
        </p:txBody>
      </p:sp>
    </p:spTree>
    <p:extLst>
      <p:ext uri="{BB962C8B-B14F-4D97-AF65-F5344CB8AC3E}">
        <p14:creationId xmlns:p14="http://schemas.microsoft.com/office/powerpoint/2010/main" val="1294683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>
            <a:extLst>
              <a:ext uri="{FF2B5EF4-FFF2-40B4-BE49-F238E27FC236}">
                <a16:creationId xmlns:a16="http://schemas.microsoft.com/office/drawing/2014/main" id="{A16C321B-7C0B-428C-B9BE-127609EC5BD8}"/>
              </a:ext>
            </a:extLst>
          </p:cNvPr>
          <p:cNvSpPr txBox="1">
            <a:spLocks/>
          </p:cNvSpPr>
          <p:nvPr/>
        </p:nvSpPr>
        <p:spPr>
          <a:xfrm>
            <a:off x="1331640" y="1556792"/>
            <a:ext cx="7200900" cy="793750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endParaRPr lang="es-MX" sz="2400" b="1" kern="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B041D0-93A9-4B4A-A243-B0AC867E53B0}"/>
              </a:ext>
            </a:extLst>
          </p:cNvPr>
          <p:cNvSpPr/>
          <p:nvPr/>
        </p:nvSpPr>
        <p:spPr>
          <a:xfrm>
            <a:off x="1331640" y="667603"/>
            <a:ext cx="3518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Etapas para aplicación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29161" y="4815416"/>
            <a:ext cx="82809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Para la aplicación del </a:t>
            </a:r>
            <a:r>
              <a:rPr lang="es-ES" b="1" u="sng" dirty="0">
                <a:solidFill>
                  <a:srgbClr val="00B0F0"/>
                </a:solidFill>
                <a:latin typeface="Calibri" panose="020F0502020204030204"/>
                <a:cs typeface="+mn-cs"/>
              </a:rPr>
              <a:t>22 de septiembre</a:t>
            </a:r>
            <a:r>
              <a:rPr lang="es-ES" b="1" dirty="0">
                <a:solidFill>
                  <a:schemeClr val="bg2"/>
                </a:solidFill>
                <a:latin typeface="Calibri" panose="020F0502020204030204"/>
                <a:cs typeface="+mn-cs"/>
              </a:rPr>
              <a:t> será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el</a:t>
            </a:r>
            <a:r>
              <a:rPr lang="es-ES" b="1" dirty="0">
                <a:solidFill>
                  <a:schemeClr val="bg2"/>
                </a:solidFill>
                <a:latin typeface="Calibri" panose="020F0502020204030204"/>
                <a:cs typeface="+mn-cs"/>
              </a:rPr>
              <a:t> 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  <a:cs typeface="+mn-cs"/>
              </a:rPr>
              <a:t>martes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</a:rPr>
              <a:t> 14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  <a:cs typeface="+mn-cs"/>
              </a:rPr>
              <a:t> de septiembre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a más tardar </a:t>
            </a:r>
            <a:endParaRPr lang="es-ES" b="1" dirty="0">
              <a:solidFill>
                <a:schemeClr val="bg2"/>
              </a:solidFill>
              <a:highlight>
                <a:srgbClr val="FFFF00"/>
              </a:highlight>
              <a:latin typeface="Calibri" panose="020F0502020204030204"/>
              <a:cs typeface="+mn-cs"/>
            </a:endParaRPr>
          </a:p>
        </p:txBody>
      </p:sp>
      <p:graphicFrame>
        <p:nvGraphicFramePr>
          <p:cNvPr id="13" name="Diagrama 12">
            <a:extLst>
              <a:ext uri="{FF2B5EF4-FFF2-40B4-BE49-F238E27FC236}">
                <a16:creationId xmlns:a16="http://schemas.microsoft.com/office/drawing/2014/main" id="{58552749-0127-4DC6-BC30-CA4502495A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76389"/>
              </p:ext>
            </p:extLst>
          </p:nvPr>
        </p:nvGraphicFramePr>
        <p:xfrm>
          <a:off x="611460" y="1385645"/>
          <a:ext cx="7696533" cy="29074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upo 9">
            <a:extLst>
              <a:ext uri="{FF2B5EF4-FFF2-40B4-BE49-F238E27FC236}">
                <a16:creationId xmlns:a16="http://schemas.microsoft.com/office/drawing/2014/main" id="{5317E094-9B7A-4438-94DF-05C8504BF78A}"/>
              </a:ext>
            </a:extLst>
          </p:cNvPr>
          <p:cNvGrpSpPr/>
          <p:nvPr/>
        </p:nvGrpSpPr>
        <p:grpSpPr>
          <a:xfrm rot="5400000">
            <a:off x="3770525" y="4259739"/>
            <a:ext cx="369334" cy="657552"/>
            <a:chOff x="1311051" y="1531518"/>
            <a:chExt cx="375378" cy="336139"/>
          </a:xfrm>
        </p:grpSpPr>
        <p:sp>
          <p:nvSpPr>
            <p:cNvPr id="11" name="Flecha derecha 7">
              <a:extLst>
                <a:ext uri="{FF2B5EF4-FFF2-40B4-BE49-F238E27FC236}">
                  <a16:creationId xmlns:a16="http://schemas.microsoft.com/office/drawing/2014/main" id="{EC6EF526-D7A3-4347-99E2-91DF058A8708}"/>
                </a:ext>
              </a:extLst>
            </p:cNvPr>
            <p:cNvSpPr/>
            <p:nvPr/>
          </p:nvSpPr>
          <p:spPr>
            <a:xfrm rot="21555324">
              <a:off x="1311051" y="1587209"/>
              <a:ext cx="368699" cy="280448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chemeClr val="accent6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2" name="Flecha derecha 4">
              <a:extLst>
                <a:ext uri="{FF2B5EF4-FFF2-40B4-BE49-F238E27FC236}">
                  <a16:creationId xmlns:a16="http://schemas.microsoft.com/office/drawing/2014/main" id="{77786C80-B3F7-4A27-AF7E-5007FC5A5C56}"/>
                </a:ext>
              </a:extLst>
            </p:cNvPr>
            <p:cNvSpPr/>
            <p:nvPr/>
          </p:nvSpPr>
          <p:spPr>
            <a:xfrm rot="21555324">
              <a:off x="1401864" y="1531518"/>
              <a:ext cx="284565" cy="16826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ES" sz="900" kern="1200"/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15F1D7E-ABC2-4272-9A7D-CB0B856E9B8A}"/>
              </a:ext>
            </a:extLst>
          </p:cNvPr>
          <p:cNvSpPr txBox="1"/>
          <p:nvPr/>
        </p:nvSpPr>
        <p:spPr>
          <a:xfrm>
            <a:off x="429161" y="5707068"/>
            <a:ext cx="82809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C0099"/>
                </a:solidFill>
                <a:latin typeface="Calibri" panose="020F0502020204030204"/>
                <a:cs typeface="+mn-cs"/>
              </a:rPr>
              <a:t>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Para la aplicación del </a:t>
            </a:r>
            <a:r>
              <a:rPr lang="es-ES" b="1" u="sng" dirty="0">
                <a:solidFill>
                  <a:srgbClr val="00B0F0"/>
                </a:solidFill>
                <a:latin typeface="Calibri" panose="020F0502020204030204"/>
                <a:cs typeface="+mn-cs"/>
              </a:rPr>
              <a:t>20</a:t>
            </a:r>
            <a:r>
              <a:rPr lang="es-ES" b="1" u="sng" dirty="0">
                <a:solidFill>
                  <a:srgbClr val="00B0F0"/>
                </a:solidFill>
                <a:latin typeface="Calibri" panose="020F0502020204030204"/>
              </a:rPr>
              <a:t> de octubre</a:t>
            </a:r>
            <a:r>
              <a:rPr lang="es-ES" b="1" dirty="0">
                <a:solidFill>
                  <a:schemeClr val="bg2"/>
                </a:solidFill>
                <a:latin typeface="Calibri" panose="020F0502020204030204"/>
                <a:cs typeface="+mn-cs"/>
              </a:rPr>
              <a:t> será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el</a:t>
            </a:r>
            <a:r>
              <a:rPr lang="es-ES" b="1" dirty="0">
                <a:solidFill>
                  <a:schemeClr val="bg2"/>
                </a:solidFill>
                <a:latin typeface="Calibri" panose="020F0502020204030204"/>
                <a:cs typeface="+mn-cs"/>
              </a:rPr>
              <a:t> 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  <a:cs typeface="+mn-cs"/>
              </a:rPr>
              <a:t>martes 13 de octubre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a más tardar </a:t>
            </a:r>
            <a:endParaRPr lang="es-ES" b="1" dirty="0">
              <a:solidFill>
                <a:schemeClr val="bg2"/>
              </a:solidFill>
              <a:highlight>
                <a:srgbClr val="FFFF00"/>
              </a:highlight>
              <a:latin typeface="Calibri" panose="020F0502020204030204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BFF9374-65BE-4F17-8742-FF6007BEA46F}"/>
              </a:ext>
            </a:extLst>
          </p:cNvPr>
          <p:cNvSpPr txBox="1"/>
          <p:nvPr/>
        </p:nvSpPr>
        <p:spPr>
          <a:xfrm>
            <a:off x="429161" y="6127490"/>
            <a:ext cx="82809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C0099"/>
                </a:solidFill>
                <a:latin typeface="Calibri" panose="020F0502020204030204"/>
                <a:cs typeface="+mn-cs"/>
              </a:rPr>
              <a:t>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Para la aplicación del </a:t>
            </a:r>
            <a:r>
              <a:rPr lang="es-ES" b="1" u="sng" dirty="0">
                <a:solidFill>
                  <a:srgbClr val="00B0F0"/>
                </a:solidFill>
                <a:latin typeface="Calibri" panose="020F0502020204030204"/>
                <a:cs typeface="+mn-cs"/>
              </a:rPr>
              <a:t>03 de noviembre</a:t>
            </a:r>
            <a:r>
              <a:rPr lang="es-ES" b="1" dirty="0">
                <a:solidFill>
                  <a:schemeClr val="bg2"/>
                </a:solidFill>
                <a:latin typeface="Calibri" panose="020F0502020204030204"/>
                <a:cs typeface="+mn-cs"/>
              </a:rPr>
              <a:t> será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el</a:t>
            </a:r>
            <a:r>
              <a:rPr lang="es-ES" b="1" dirty="0">
                <a:solidFill>
                  <a:schemeClr val="bg2"/>
                </a:solidFill>
                <a:latin typeface="Calibri" panose="020F0502020204030204"/>
                <a:cs typeface="+mn-cs"/>
              </a:rPr>
              <a:t> 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  <a:cs typeface="+mn-cs"/>
              </a:rPr>
              <a:t>martes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</a:rPr>
              <a:t> 27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  <a:cs typeface="+mn-cs"/>
              </a:rPr>
              <a:t> </a:t>
            </a:r>
            <a:r>
              <a:rPr lang="es-ES" b="1">
                <a:solidFill>
                  <a:srgbClr val="5A62F8"/>
                </a:solidFill>
                <a:latin typeface="Calibri" panose="020F0502020204030204"/>
                <a:cs typeface="+mn-cs"/>
              </a:rPr>
              <a:t>de octubre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a más tardar </a:t>
            </a:r>
            <a:endParaRPr lang="es-ES" b="1" dirty="0">
              <a:solidFill>
                <a:schemeClr val="bg2"/>
              </a:solidFill>
              <a:highlight>
                <a:srgbClr val="FFFF00"/>
              </a:highlight>
              <a:latin typeface="Calibri" panose="020F0502020204030204"/>
              <a:cs typeface="+mn-cs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302ECA8-4946-4B2E-96C1-AF7A2E6309C6}"/>
              </a:ext>
            </a:extLst>
          </p:cNvPr>
          <p:cNvSpPr txBox="1"/>
          <p:nvPr/>
        </p:nvSpPr>
        <p:spPr>
          <a:xfrm>
            <a:off x="429161" y="5261242"/>
            <a:ext cx="82809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C0099"/>
                </a:solidFill>
                <a:latin typeface="Calibri" panose="020F0502020204030204"/>
                <a:cs typeface="+mn-cs"/>
              </a:rPr>
              <a:t>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Para la aplicación del </a:t>
            </a:r>
            <a:r>
              <a:rPr lang="es-ES" b="1" u="sng" dirty="0">
                <a:solidFill>
                  <a:srgbClr val="00B0F0"/>
                </a:solidFill>
                <a:latin typeface="Calibri" panose="020F0502020204030204"/>
                <a:cs typeface="+mn-cs"/>
              </a:rPr>
              <a:t>06 de octubre</a:t>
            </a:r>
            <a:r>
              <a:rPr lang="es-ES" b="1" dirty="0">
                <a:solidFill>
                  <a:schemeClr val="bg2"/>
                </a:solidFill>
                <a:latin typeface="Calibri" panose="020F0502020204030204"/>
                <a:cs typeface="+mn-cs"/>
              </a:rPr>
              <a:t> será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el</a:t>
            </a:r>
            <a:r>
              <a:rPr lang="es-ES" b="1" dirty="0">
                <a:solidFill>
                  <a:schemeClr val="bg2"/>
                </a:solidFill>
                <a:latin typeface="Calibri" panose="020F0502020204030204"/>
                <a:cs typeface="+mn-cs"/>
              </a:rPr>
              <a:t> 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  <a:cs typeface="+mn-cs"/>
              </a:rPr>
              <a:t>martes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</a:rPr>
              <a:t> 29</a:t>
            </a:r>
            <a:r>
              <a:rPr lang="es-ES" b="1" dirty="0">
                <a:solidFill>
                  <a:srgbClr val="5A62F8"/>
                </a:solidFill>
                <a:latin typeface="Calibri" panose="020F0502020204030204"/>
                <a:cs typeface="+mn-cs"/>
              </a:rPr>
              <a:t> de septiembre </a:t>
            </a:r>
            <a:r>
              <a:rPr lang="es-ES" dirty="0">
                <a:solidFill>
                  <a:schemeClr val="bg2"/>
                </a:solidFill>
                <a:latin typeface="Calibri" panose="020F0502020204030204"/>
                <a:cs typeface="+mn-cs"/>
              </a:rPr>
              <a:t>a más tardar </a:t>
            </a:r>
            <a:endParaRPr lang="es-ES" b="1" dirty="0">
              <a:solidFill>
                <a:schemeClr val="bg2"/>
              </a:solidFill>
              <a:highlight>
                <a:srgbClr val="FFFF00"/>
              </a:highlight>
              <a:latin typeface="Calibri" panose="020F050202020403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593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ABF6C0C-E04E-41CB-8F92-F0B9ACC81B75}"/>
              </a:ext>
            </a:extLst>
          </p:cNvPr>
          <p:cNvSpPr/>
          <p:nvPr/>
        </p:nvSpPr>
        <p:spPr>
          <a:xfrm>
            <a:off x="2123728" y="692696"/>
            <a:ext cx="2046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s-ES" sz="2400" b="1" dirty="0">
                <a:solidFill>
                  <a:schemeClr val="bg1"/>
                </a:solidFill>
                <a:latin typeface="Calibri" panose="020F0502020204030204"/>
              </a:rPr>
              <a:t>Formato Excel</a:t>
            </a:r>
            <a:r>
              <a:rPr lang="es-ES" sz="2400" dirty="0">
                <a:solidFill>
                  <a:schemeClr val="bg1"/>
                </a:solidFill>
                <a:latin typeface="Calibri" panose="020F0502020204030204"/>
              </a:rPr>
              <a:t> </a:t>
            </a:r>
            <a:endParaRPr lang="es-MX" sz="240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CB3B3B-77E5-43D1-9C22-DF231CB0B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46" y="1700808"/>
            <a:ext cx="8658708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2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C0A0EA3-948D-49CF-8B19-184276E82FBA}"/>
              </a:ext>
            </a:extLst>
          </p:cNvPr>
          <p:cNvSpPr/>
          <p:nvPr/>
        </p:nvSpPr>
        <p:spPr>
          <a:xfrm>
            <a:off x="1619672" y="764704"/>
            <a:ext cx="3096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APLICACIONES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F8C55F9-8336-439E-B2CA-1B781212523D}"/>
              </a:ext>
            </a:extLst>
          </p:cNvPr>
          <p:cNvSpPr/>
          <p:nvPr/>
        </p:nvSpPr>
        <p:spPr>
          <a:xfrm>
            <a:off x="324617" y="2348880"/>
            <a:ext cx="8351839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>
                <a:latin typeface="+mn-lt"/>
              </a:rPr>
              <a:t>Posgrado en Ciencia e Ingeniería de Materiales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>
                <a:latin typeface="+mn-lt"/>
              </a:rPr>
              <a:t>Doctorado en Ciencias Biomédicas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000000"/>
                </a:solidFill>
                <a:latin typeface="+mn-lt"/>
              </a:rPr>
              <a:t>Maestría y Doctorado en Enfermería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9F745C-08C1-4BA8-84FB-B4DAA9441FE9}"/>
              </a:ext>
            </a:extLst>
          </p:cNvPr>
          <p:cNvSpPr/>
          <p:nvPr/>
        </p:nvSpPr>
        <p:spPr>
          <a:xfrm>
            <a:off x="324617" y="1340768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Fecha: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Martes </a:t>
            </a:r>
            <a:r>
              <a:rPr lang="es-ES" b="1" dirty="0">
                <a:solidFill>
                  <a:srgbClr val="00B0F0"/>
                </a:solidFill>
                <a:latin typeface="+mn-lt"/>
              </a:rPr>
              <a:t>22 septiembre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del 2026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  <a:cs typeface="Times New Roman" pitchFamily="18" charset="0"/>
              </a:rPr>
              <a:t> Horario:  10:00 am a 13:00 horas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  <a:cs typeface="Times New Roman" pitchFamily="18" charset="0"/>
              </a:rPr>
              <a:t>          Programas:</a:t>
            </a:r>
            <a:endParaRPr lang="es-ES" dirty="0">
              <a:solidFill>
                <a:schemeClr val="accent2">
                  <a:lumMod val="5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4CBFF9-F648-4E94-AC88-AE2DEE16F138}"/>
              </a:ext>
            </a:extLst>
          </p:cNvPr>
          <p:cNvSpPr/>
          <p:nvPr/>
        </p:nvSpPr>
        <p:spPr>
          <a:xfrm>
            <a:off x="324617" y="4132238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Fecha: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Martes </a:t>
            </a:r>
            <a:r>
              <a:rPr lang="es-ES" b="1" dirty="0">
                <a:solidFill>
                  <a:srgbClr val="00B0F0"/>
                </a:solidFill>
                <a:latin typeface="+mn-lt"/>
              </a:rPr>
              <a:t>06 octubre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del 2026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  <a:cs typeface="Times New Roman" pitchFamily="18" charset="0"/>
              </a:rPr>
              <a:t> Horario:  10:00 am a 13:00 horas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  <a:cs typeface="Times New Roman" pitchFamily="18" charset="0"/>
              </a:rPr>
              <a:t>          Programas:</a:t>
            </a:r>
            <a:endParaRPr lang="es-ES" dirty="0">
              <a:solidFill>
                <a:schemeClr val="accent2">
                  <a:lumMod val="5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ADFBFFA-3739-4D4B-99DE-D500C0941A13}"/>
              </a:ext>
            </a:extLst>
          </p:cNvPr>
          <p:cNvSpPr/>
          <p:nvPr/>
        </p:nvSpPr>
        <p:spPr>
          <a:xfrm>
            <a:off x="324617" y="5157192"/>
            <a:ext cx="8351839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>
                <a:latin typeface="+mn-lt"/>
              </a:rPr>
              <a:t>Maestría y Doctorado en Ciencias de la Producción y de la Salud Animal</a:t>
            </a:r>
          </a:p>
        </p:txBody>
      </p:sp>
    </p:spTree>
    <p:extLst>
      <p:ext uri="{BB962C8B-B14F-4D97-AF65-F5344CB8AC3E}">
        <p14:creationId xmlns:p14="http://schemas.microsoft.com/office/powerpoint/2010/main" val="2144598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C0A0EA3-948D-49CF-8B19-184276E82FBA}"/>
              </a:ext>
            </a:extLst>
          </p:cNvPr>
          <p:cNvSpPr/>
          <p:nvPr/>
        </p:nvSpPr>
        <p:spPr>
          <a:xfrm>
            <a:off x="1619672" y="764704"/>
            <a:ext cx="3096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APLICACIONES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9F745C-08C1-4BA8-84FB-B4DAA9441FE9}"/>
              </a:ext>
            </a:extLst>
          </p:cNvPr>
          <p:cNvSpPr/>
          <p:nvPr/>
        </p:nvSpPr>
        <p:spPr>
          <a:xfrm>
            <a:off x="352128" y="1353542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Fecha: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Martes </a:t>
            </a:r>
            <a:r>
              <a:rPr lang="es-ES" b="1" dirty="0">
                <a:solidFill>
                  <a:srgbClr val="00B0F0"/>
                </a:solidFill>
                <a:latin typeface="+mn-lt"/>
              </a:rPr>
              <a:t>20 octubre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del 2026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Horario:  10:00 am a 13:00 horas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         Programas:</a:t>
            </a:r>
            <a:endParaRPr lang="es-ES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325959-5111-48D3-ABA9-04BE84C8BF72}"/>
              </a:ext>
            </a:extLst>
          </p:cNvPr>
          <p:cNvSpPr/>
          <p:nvPr/>
        </p:nvSpPr>
        <p:spPr>
          <a:xfrm>
            <a:off x="352128" y="2276872"/>
            <a:ext cx="7868515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>
                <a:latin typeface="+mn-lt"/>
              </a:rPr>
              <a:t>Maestría y Doctorado  Ciencia e Ingeniería de la Computación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000000"/>
                </a:solidFill>
                <a:latin typeface="+mn-lt"/>
              </a:rPr>
              <a:t>Posgrado en Ciencias de la Administración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06515D9-9C9A-4BB1-9F44-ACF05AED30AE}"/>
              </a:ext>
            </a:extLst>
          </p:cNvPr>
          <p:cNvSpPr/>
          <p:nvPr/>
        </p:nvSpPr>
        <p:spPr>
          <a:xfrm>
            <a:off x="352128" y="3657799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Fecha: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Martes </a:t>
            </a:r>
            <a:r>
              <a:rPr lang="es-ES" b="1" dirty="0">
                <a:solidFill>
                  <a:srgbClr val="00B0F0"/>
                </a:solidFill>
                <a:latin typeface="+mn-lt"/>
              </a:rPr>
              <a:t>03 noviembre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del 2026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Horario:  10:00 am a 13:00 horas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         Programas: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0CA107-DA04-4A90-BB37-A32E7F4136BD}"/>
              </a:ext>
            </a:extLst>
          </p:cNvPr>
          <p:cNvSpPr/>
          <p:nvPr/>
        </p:nvSpPr>
        <p:spPr>
          <a:xfrm>
            <a:off x="352128" y="4725144"/>
            <a:ext cx="2654381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>
                <a:latin typeface="+mn-lt"/>
              </a:rPr>
              <a:t>Posgrado en Economía</a:t>
            </a:r>
          </a:p>
        </p:txBody>
      </p:sp>
    </p:spTree>
    <p:extLst>
      <p:ext uri="{BB962C8B-B14F-4D97-AF65-F5344CB8AC3E}">
        <p14:creationId xmlns:p14="http://schemas.microsoft.com/office/powerpoint/2010/main" val="224776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C0A0EA3-948D-49CF-8B19-184276E82FBA}"/>
              </a:ext>
            </a:extLst>
          </p:cNvPr>
          <p:cNvSpPr/>
          <p:nvPr/>
        </p:nvSpPr>
        <p:spPr>
          <a:xfrm>
            <a:off x="1619672" y="764704"/>
            <a:ext cx="3096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APLICACIONES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9F745C-08C1-4BA8-84FB-B4DAA9441FE9}"/>
              </a:ext>
            </a:extLst>
          </p:cNvPr>
          <p:cNvSpPr/>
          <p:nvPr/>
        </p:nvSpPr>
        <p:spPr>
          <a:xfrm>
            <a:off x="352128" y="1449301"/>
            <a:ext cx="8064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Fecha: </a:t>
            </a:r>
            <a:r>
              <a:rPr lang="es-MX" b="1" dirty="0">
                <a:solidFill>
                  <a:srgbClr val="00B0F0"/>
                </a:solidFill>
                <a:latin typeface="+mn-lt"/>
              </a:rPr>
              <a:t>Por confirmar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Horario:  10:00 am a 13:00 horas</a:t>
            </a:r>
          </a:p>
          <a:p>
            <a:r>
              <a:rPr lang="es-MX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         Programas:</a:t>
            </a:r>
            <a:endParaRPr lang="es-ES" dirty="0">
              <a:solidFill>
                <a:schemeClr val="accent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325959-5111-48D3-ABA9-04BE84C8BF72}"/>
              </a:ext>
            </a:extLst>
          </p:cNvPr>
          <p:cNvSpPr/>
          <p:nvPr/>
        </p:nvSpPr>
        <p:spPr>
          <a:xfrm>
            <a:off x="352128" y="2406330"/>
            <a:ext cx="7868515" cy="464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000000"/>
                </a:solidFill>
                <a:latin typeface="+mn-lt"/>
              </a:rPr>
              <a:t>Maestría y Doctorado en Ingeniería</a:t>
            </a:r>
          </a:p>
        </p:txBody>
      </p:sp>
    </p:spTree>
    <p:extLst>
      <p:ext uri="{BB962C8B-B14F-4D97-AF65-F5344CB8AC3E}">
        <p14:creationId xmlns:p14="http://schemas.microsoft.com/office/powerpoint/2010/main" val="367554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Marcador de contenido">
            <a:extLst>
              <a:ext uri="{FF2B5EF4-FFF2-40B4-BE49-F238E27FC236}">
                <a16:creationId xmlns:a16="http://schemas.microsoft.com/office/drawing/2014/main" id="{D047EAB3-B507-4D06-81EA-E50446D7B8D4}"/>
              </a:ext>
            </a:extLst>
          </p:cNvPr>
          <p:cNvSpPr txBox="1">
            <a:spLocks/>
          </p:cNvSpPr>
          <p:nvPr/>
        </p:nvSpPr>
        <p:spPr>
          <a:xfrm>
            <a:off x="395536" y="1700808"/>
            <a:ext cx="8352928" cy="4896544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1. Confirmar el horario de la aplicación. 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MX" sz="23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2. Pase de lista previo (opcional).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MX" sz="23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3. Ingreso al sistema (liga de acceso al sistema será: </a:t>
            </a:r>
            <a:r>
              <a:rPr lang="es-MX" sz="2300" b="1" kern="0" dirty="0">
                <a:solidFill>
                  <a:srgbClr val="002060"/>
                </a:solidFill>
                <a:latin typeface="+mn-lt"/>
                <a:cs typeface="+mn-cs"/>
                <a:hlinkClick r:id="rId3"/>
              </a:rPr>
              <a:t>https://orienta.instrumentos.unam.mx/MEPSI</a:t>
            </a: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).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	</a:t>
            </a:r>
            <a:r>
              <a:rPr lang="es-MX" sz="2300" b="1" kern="0" dirty="0">
                <a:solidFill>
                  <a:srgbClr val="002060"/>
                </a:solidFill>
                <a:latin typeface="+mn-lt"/>
                <a:cs typeface="+mn-cs"/>
              </a:rPr>
              <a:t>Usuario</a:t>
            </a: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 será el </a:t>
            </a:r>
            <a:r>
              <a:rPr lang="es-MX" sz="2300" kern="0" dirty="0">
                <a:solidFill>
                  <a:srgbClr val="CC0099"/>
                </a:solidFill>
                <a:latin typeface="+mn-lt"/>
                <a:cs typeface="+mn-cs"/>
              </a:rPr>
              <a:t>correo electrónico </a:t>
            </a: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proporcionado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	</a:t>
            </a:r>
            <a:r>
              <a:rPr lang="es-MX" sz="2300" b="1" kern="0" dirty="0">
                <a:solidFill>
                  <a:srgbClr val="002060"/>
                </a:solidFill>
                <a:latin typeface="+mn-lt"/>
                <a:cs typeface="+mn-cs"/>
              </a:rPr>
              <a:t>Contraseña</a:t>
            </a: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 será la </a:t>
            </a:r>
            <a:r>
              <a:rPr lang="es-MX" sz="2300" kern="0" dirty="0">
                <a:solidFill>
                  <a:srgbClr val="CC0099"/>
                </a:solidFill>
                <a:latin typeface="+mn-lt"/>
                <a:cs typeface="+mn-cs"/>
              </a:rPr>
              <a:t>fecha de nacimiento </a:t>
            </a: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del aspirante en el formato ddmmaaaa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MX" sz="23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4. Considerar que el sistema de aplicación tiene programado un máximo de 10 intentos para ingresar después de ellos se bloquea el acceso para el aspirante.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MX" sz="23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5. </a:t>
            </a:r>
            <a:r>
              <a:rPr lang="es-MX" sz="2300" b="1" kern="0" dirty="0">
                <a:solidFill>
                  <a:srgbClr val="002060"/>
                </a:solidFill>
                <a:latin typeface="+mn-lt"/>
                <a:cs typeface="+mn-cs"/>
              </a:rPr>
              <a:t>¿Cómo deberá actuar la DGOAE </a:t>
            </a: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en caso de detectar alguna incidencia durante la aplicación?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MX" sz="23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s-MX" sz="2300" kern="0" dirty="0">
                <a:solidFill>
                  <a:srgbClr val="002060"/>
                </a:solidFill>
                <a:latin typeface="+mn-lt"/>
                <a:cs typeface="+mn-cs"/>
              </a:rPr>
              <a:t>6. Para mantener la comunicación durante la aplicación seguiremos usando el grupo de WhatsApp, integrado por personal de la DGOAE y los responsables del por programa de posgrado.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MX" sz="23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endParaRPr lang="es-MX" kern="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62FAFF2-19CF-4B78-8703-80A40A184E63}"/>
              </a:ext>
            </a:extLst>
          </p:cNvPr>
          <p:cNvSpPr/>
          <p:nvPr/>
        </p:nvSpPr>
        <p:spPr>
          <a:xfrm>
            <a:off x="1619672" y="803473"/>
            <a:ext cx="29803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Algunas consideraciones</a:t>
            </a:r>
          </a:p>
        </p:txBody>
      </p:sp>
    </p:spTree>
    <p:extLst>
      <p:ext uri="{BB962C8B-B14F-4D97-AF65-F5344CB8AC3E}">
        <p14:creationId xmlns:p14="http://schemas.microsoft.com/office/powerpoint/2010/main" val="3244998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2 Marcador de contenido">
            <a:extLst>
              <a:ext uri="{FF2B5EF4-FFF2-40B4-BE49-F238E27FC236}">
                <a16:creationId xmlns:a16="http://schemas.microsoft.com/office/drawing/2014/main" id="{D047EAB3-B507-4D06-81EA-E50446D7B8D4}"/>
              </a:ext>
            </a:extLst>
          </p:cNvPr>
          <p:cNvSpPr txBox="1">
            <a:spLocks/>
          </p:cNvSpPr>
          <p:nvPr/>
        </p:nvSpPr>
        <p:spPr>
          <a:xfrm>
            <a:off x="395536" y="1345207"/>
            <a:ext cx="8352928" cy="5108129"/>
          </a:xfrm>
          <a:prstGeom prst="rect">
            <a:avLst/>
          </a:prstGeom>
        </p:spPr>
        <p:txBody>
          <a:bodyPr>
            <a:noAutofit/>
          </a:bodyPr>
          <a:lstStyle/>
          <a:p>
            <a:pPr eaLnBrk="0" hangingPunct="0">
              <a:spcBef>
                <a:spcPct val="20000"/>
              </a:spcBef>
              <a:defRPr/>
            </a:pP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</a:rPr>
              <a:t>7. Todos los aspirantes deberán responder la prueba completa y respetar la versión en línea que aplicará la DGOAE.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MX" sz="1500" kern="0" dirty="0">
              <a:solidFill>
                <a:srgbClr val="002060"/>
              </a:solidFill>
              <a:highlight>
                <a:srgbClr val="FFFF00"/>
              </a:highlight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</a:rPr>
              <a:t>8. Los Programas participantes </a:t>
            </a:r>
            <a:r>
              <a:rPr lang="es-ES" sz="1500" kern="0" dirty="0">
                <a:solidFill>
                  <a:srgbClr val="002060"/>
                </a:solidFill>
                <a:latin typeface="+mn-lt"/>
                <a:cs typeface="+mn-cs"/>
              </a:rPr>
              <a:t>serán notificados sobre los aspirantes que hayan realizado el MEPSI con anterioridad y cuyos resultados aún se consideran válidos para su interpretación. 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ES" sz="15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s-ES" sz="1500" kern="0" dirty="0">
                <a:solidFill>
                  <a:srgbClr val="002060"/>
                </a:solidFill>
                <a:latin typeface="+mn-lt"/>
                <a:cs typeface="+mn-cs"/>
              </a:rPr>
              <a:t>Dado ello por favor indicar si dichos aspirantes identificados  participarán o no en la aplicación reciente. Reiteramos que </a:t>
            </a:r>
            <a:r>
              <a:rPr lang="es-ES" sz="1500" b="1" kern="0" dirty="0">
                <a:solidFill>
                  <a:srgbClr val="002060"/>
                </a:solidFill>
                <a:latin typeface="+mn-lt"/>
                <a:cs typeface="+mn-cs"/>
              </a:rPr>
              <a:t>no hay ningún problema si deciden </a:t>
            </a:r>
            <a:r>
              <a:rPr lang="es-ES" sz="1500" kern="0" dirty="0">
                <a:solidFill>
                  <a:srgbClr val="002060"/>
                </a:solidFill>
                <a:latin typeface="+mn-lt"/>
                <a:cs typeface="+mn-cs"/>
              </a:rPr>
              <a:t>que lo vuelvan a presentar.</a:t>
            </a:r>
          </a:p>
          <a:p>
            <a:pPr eaLnBrk="0" hangingPunct="0">
              <a:spcBef>
                <a:spcPct val="20000"/>
              </a:spcBef>
              <a:defRPr/>
            </a:pPr>
            <a:endParaRPr lang="es-MX" sz="1500" kern="0" dirty="0">
              <a:solidFill>
                <a:srgbClr val="002060"/>
              </a:solidFill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defRPr/>
            </a:pP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</a:rPr>
              <a:t>9. Se continuará con la </a:t>
            </a:r>
            <a:r>
              <a:rPr lang="es-MX" sz="1500" b="1" kern="0" dirty="0">
                <a:solidFill>
                  <a:srgbClr val="002060"/>
                </a:solidFill>
                <a:latin typeface="+mn-lt"/>
                <a:cs typeface="+mn-cs"/>
              </a:rPr>
              <a:t>aplicación para eventualidades </a:t>
            </a: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</a:rPr>
              <a:t>(son fechas internas, por lo que no deberán publicarse): 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Para la fecha del </a:t>
            </a:r>
            <a:r>
              <a:rPr lang="es-ES" sz="1500" b="1" u="sng" kern="0" dirty="0">
                <a:solidFill>
                  <a:srgbClr val="00B0F0"/>
                </a:solidFill>
                <a:latin typeface="+mj-lt"/>
                <a:cs typeface="+mn-cs"/>
              </a:rPr>
              <a:t>22 de septiembre </a:t>
            </a: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se realizaría el viernes 25 de septiembre a las 10:00 a.m.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Para la fecha del </a:t>
            </a:r>
            <a:r>
              <a:rPr lang="es-ES" sz="1500" b="1" u="sng" kern="0" dirty="0">
                <a:solidFill>
                  <a:srgbClr val="00B0F0"/>
                </a:solidFill>
                <a:latin typeface="+mj-lt"/>
                <a:cs typeface="+mn-cs"/>
              </a:rPr>
              <a:t>06 de octubre </a:t>
            </a: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se realizaría el viernes 09 de octubre a las 10:00 a.m</a:t>
            </a:r>
            <a:r>
              <a:rPr lang="es-MX" sz="1500" kern="0" dirty="0">
                <a:solidFill>
                  <a:srgbClr val="002060"/>
                </a:solidFill>
              </a:rPr>
              <a:t>.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Para la fecha del </a:t>
            </a:r>
            <a:r>
              <a:rPr lang="es-ES" sz="1500" b="1" u="sng" kern="0" dirty="0">
                <a:solidFill>
                  <a:srgbClr val="00B0F0"/>
                </a:solidFill>
                <a:latin typeface="+mj-lt"/>
              </a:rPr>
              <a:t>20 de octubre</a:t>
            </a:r>
            <a:r>
              <a:rPr lang="es-ES" sz="1500" kern="0" dirty="0">
                <a:solidFill>
                  <a:srgbClr val="002060"/>
                </a:solidFill>
                <a:latin typeface="+mj-lt"/>
                <a:cs typeface="+mn-cs"/>
              </a:rPr>
              <a:t> </a:t>
            </a: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se realizaría el viernes 23 de octubre a las 10:00 a.m.</a:t>
            </a:r>
          </a:p>
          <a:p>
            <a: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Para la fecha del </a:t>
            </a:r>
            <a:r>
              <a:rPr lang="es-ES" sz="1500" b="1" u="sng" kern="0" dirty="0">
                <a:solidFill>
                  <a:srgbClr val="00B0F0"/>
                </a:solidFill>
                <a:latin typeface="+mj-lt"/>
              </a:rPr>
              <a:t>03 de mayo </a:t>
            </a: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se realizaría el viernes 06 de mayo a las 10:00 a.m.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s-MX" sz="1500" kern="0" dirty="0">
                <a:solidFill>
                  <a:srgbClr val="002060"/>
                </a:solidFill>
                <a:latin typeface="+mj-lt"/>
                <a:cs typeface="+mn-cs"/>
              </a:rPr>
              <a:t>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</a:rPr>
              <a:t>10. Entrega de resultados confirmar fecha con el Mtro. Xavier Contla, DGOAE.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</a:rPr>
              <a:t>Correo: </a:t>
            </a: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  <a:hlinkClick r:id="rId3"/>
              </a:rPr>
              <a:t>xcontla@comunidad.unam.mx</a:t>
            </a: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</a:rPr>
              <a:t> </a:t>
            </a:r>
          </a:p>
          <a:p>
            <a:pPr eaLnBrk="0" hangingPunct="0">
              <a:spcBef>
                <a:spcPct val="20000"/>
              </a:spcBef>
              <a:defRPr/>
            </a:pPr>
            <a:r>
              <a:rPr lang="es-MX" sz="1500" kern="0" dirty="0">
                <a:solidFill>
                  <a:srgbClr val="002060"/>
                </a:solidFill>
                <a:latin typeface="+mn-lt"/>
                <a:cs typeface="+mn-cs"/>
              </a:rPr>
              <a:t>Teléfono: 55 2298 6978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62FAFF2-19CF-4B78-8703-80A40A184E63}"/>
              </a:ext>
            </a:extLst>
          </p:cNvPr>
          <p:cNvSpPr/>
          <p:nvPr/>
        </p:nvSpPr>
        <p:spPr>
          <a:xfrm>
            <a:off x="1619672" y="803473"/>
            <a:ext cx="23503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b="1" dirty="0">
                <a:solidFill>
                  <a:schemeClr val="bg1"/>
                </a:solidFill>
              </a:rPr>
              <a:t>Algunas consideraciones</a:t>
            </a:r>
          </a:p>
        </p:txBody>
      </p:sp>
    </p:spTree>
    <p:extLst>
      <p:ext uri="{BB962C8B-B14F-4D97-AF65-F5344CB8AC3E}">
        <p14:creationId xmlns:p14="http://schemas.microsoft.com/office/powerpoint/2010/main" val="4113600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2 CuadroTexto">
            <a:extLst>
              <a:ext uri="{FF2B5EF4-FFF2-40B4-BE49-F238E27FC236}">
                <a16:creationId xmlns:a16="http://schemas.microsoft.com/office/drawing/2014/main" id="{8BA6E4BC-4883-4972-BC16-8FEAA691D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772816"/>
            <a:ext cx="7632848" cy="3200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s-ES" altLang="es-MX" b="1" dirty="0">
              <a:solidFill>
                <a:srgbClr val="002060"/>
              </a:solidFill>
            </a:endParaRPr>
          </a:p>
          <a:p>
            <a:pPr algn="ctr" eaLnBrk="1" hangingPunct="1"/>
            <a:r>
              <a:rPr lang="es-ES" altLang="es-MX" sz="4800" b="1" dirty="0">
                <a:solidFill>
                  <a:schemeClr val="accent6"/>
                </a:solidFill>
                <a:latin typeface="PMingLiU-ExtB" panose="02020500000000000000" pitchFamily="18" charset="-120"/>
                <a:ea typeface="PMingLiU-ExtB" panose="02020500000000000000" pitchFamily="18" charset="-120"/>
              </a:rPr>
              <a:t>Agradecemos</a:t>
            </a:r>
          </a:p>
          <a:p>
            <a:pPr algn="ctr" eaLnBrk="1" hangingPunct="1"/>
            <a:r>
              <a:rPr lang="es-ES" altLang="es-MX" sz="4800" b="1" dirty="0">
                <a:solidFill>
                  <a:schemeClr val="accent6"/>
                </a:solidFill>
                <a:latin typeface="PMingLiU-ExtB" panose="02020500000000000000" pitchFamily="18" charset="-120"/>
                <a:ea typeface="PMingLiU-ExtB" panose="02020500000000000000" pitchFamily="18" charset="-120"/>
              </a:rPr>
              <a:t>su apoyo y atención</a:t>
            </a:r>
          </a:p>
          <a:p>
            <a:pPr algn="ctr" eaLnBrk="1" hangingPunct="1"/>
            <a:endParaRPr lang="es-ES" altLang="es-MX" sz="3200" b="1" dirty="0">
              <a:solidFill>
                <a:srgbClr val="002060"/>
              </a:solidFill>
            </a:endParaRPr>
          </a:p>
          <a:p>
            <a:pPr algn="ctr" eaLnBrk="1" hangingPunct="1"/>
            <a:endParaRPr lang="es-ES" altLang="es-MX" sz="3200" b="1" dirty="0">
              <a:solidFill>
                <a:srgbClr val="002060"/>
              </a:solidFill>
            </a:endParaRPr>
          </a:p>
          <a:p>
            <a:pPr algn="ctr" eaLnBrk="1" hangingPunct="1"/>
            <a:r>
              <a:rPr lang="es-ES" altLang="es-MX" sz="2400" dirty="0">
                <a:solidFill>
                  <a:srgbClr val="002060"/>
                </a:solidFill>
              </a:rPr>
              <a:t>DGOAE/CGEP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13377</TotalTime>
  <Words>1099</Words>
  <Application>Microsoft Office PowerPoint</Application>
  <PresentationFormat>Presentación en pantalla (4:3)</PresentationFormat>
  <Paragraphs>217</Paragraphs>
  <Slides>13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PMingLiU-ExtB</vt:lpstr>
      <vt:lpstr>Yu Gothic UI</vt:lpstr>
      <vt:lpstr>Yu Gothic UI Semibold</vt:lpstr>
      <vt:lpstr>Arial</vt:lpstr>
      <vt:lpstr>Calibri</vt:lpstr>
      <vt:lpstr>Candara</vt:lpstr>
      <vt:lpstr>Corbel</vt:lpstr>
      <vt:lpstr>Times New Roman</vt:lpstr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DGOSE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Apolo Granados Gallardo</dc:creator>
  <cp:lastModifiedBy>verom</cp:lastModifiedBy>
  <cp:revision>877</cp:revision>
  <dcterms:created xsi:type="dcterms:W3CDTF">2010-02-17T20:02:39Z</dcterms:created>
  <dcterms:modified xsi:type="dcterms:W3CDTF">2026-08-31T17:35:37Z</dcterms:modified>
</cp:coreProperties>
</file>